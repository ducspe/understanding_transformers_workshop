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5143500" cx="9144000"/>
  <p:notesSz cx="6858000" cy="9144000"/>
  <p:embeddedFontLst>
    <p:embeddedFont>
      <p:font typeface="Roboto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7EED98-0011-4329-B594-DEB074AC8677}">
  <a:tblStyle styleId="{B57EED98-0011-4329-B594-DEB074AC867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oboto-bold.fntdata"/><Relationship Id="rId21" Type="http://schemas.openxmlformats.org/officeDocument/2006/relationships/slide" Target="slides/slide15.xml"/><Relationship Id="rId65" Type="http://schemas.openxmlformats.org/officeDocument/2006/relationships/font" Target="fonts/Roboto-regular.fntdata"/><Relationship Id="rId24" Type="http://schemas.openxmlformats.org/officeDocument/2006/relationships/slide" Target="slides/slide18.xml"/><Relationship Id="rId68" Type="http://schemas.openxmlformats.org/officeDocument/2006/relationships/font" Target="fonts/Roboto-boldItalic.fntdata"/><Relationship Id="rId23" Type="http://schemas.openxmlformats.org/officeDocument/2006/relationships/slide" Target="slides/slide17.xml"/><Relationship Id="rId67" Type="http://schemas.openxmlformats.org/officeDocument/2006/relationships/font" Target="fonts/Roboto-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data-science/the-differences-between-artificial-and-biological-neural-networks-a8b46db828b7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cs231n.stanford.edu/slides/2019/cs231n_2019_lecture04.pdf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cs231n.stanford.edu/slides/2019/cs231n_2019_lecture04.pdf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cs231n.stanford.edu/slides/2019/cs231n_2019_lecture04.pdf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owardsdatascience.com/neural-networks-backpropagation-by-dr-lihi-gur-arie-27be67d8fdce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owardsdatascience.com/neural-networks-backpropagation-by-dr-lihi-gur-arie-27be67d8fdce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ilianweng.github.io/posts/2018-10-13-flow-models/" TargetMode="External"/><Relationship Id="rId3" Type="http://schemas.openxmlformats.org/officeDocument/2006/relationships/hyperlink" Target="https://lilianweng.github.io/posts/2021-07-11-diffusion-models/" TargetMode="External"/><Relationship Id="rId4" Type="http://schemas.openxmlformats.org/officeDocument/2006/relationships/hyperlink" Target="https://ducspe.github.io/masterthesis_danucaus/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pdf/1706.03762.pdf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wjZofJX0v4M?si=OtqYas1oYNpoEvKM&amp;t=1018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abs/2111.09883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eMlx5fFNoYc?si=3HHAKgY1_bGv_cP9&amp;t=153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eMlx5fFNoYc&amp;t=95s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9-Jl0dxWQs8?si=C_2pg-d_T5EGMOkZ&amp;t=524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9-Jl0dxWQs8?si=uWsjpG98l0AP09rN&amp;t=775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ature.com/news/2005/050620/full/news050620-7.html" TargetMode="External"/><Relationship Id="rId3" Type="http://schemas.openxmlformats.org/officeDocument/2006/relationships/hyperlink" Target="https://www.nature.com/articles/nature03687" TargetMode="External"/><Relationship Id="rId4" Type="http://schemas.openxmlformats.org/officeDocument/2006/relationships/hyperlink" Target="https://www.researchgate.net/publication/7770938_Invariant_Visual_Representation_by_Single_Neurons_in_the_Human_Brain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9-Jl0dxWQs8?si=9x46MVg-sdmskaQ4&amp;t=1025" TargetMode="External"/><Relationship Id="rId3" Type="http://schemas.openxmlformats.org/officeDocument/2006/relationships/hyperlink" Target="https://youtu.be/9-Jl0dxWQs8?si=_UCmtd9Utvu7WeAL&amp;t=1280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9-Jl0dxWQs8?si=zSgl6gb8fTfdniZV&amp;t=1009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stechnica.com/science/2018/12/move-over-alphago-alphazero-taught-itself-to-play-three-different-games/" TargetMode="Externa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z-juelich.de/en/news/archive/press-release/2022/first-european-exascale-supercomputer-coming-to-julich" TargetMode="Externa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odsc.com/blog/reinforcement-learning-with-ppo/" TargetMode="Externa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pdf/2010.11929v2.pdf" TargetMode="Externa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RaghavPrabhu/understanding-of-convolutional-neural-network-cnn-deep-learning-99760835f148" TargetMode="External"/><Relationship Id="rId3" Type="http://schemas.openxmlformats.org/officeDocument/2006/relationships/hyperlink" Target="https://cs231n.github.io/convolutional-networks" TargetMode="Externa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pdf/2103.14030.pdf" TargetMode="Externa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Short-time_Fourier_transform#/media/File:Spectrogram-19thC.png" TargetMode="Externa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pdf/2202.07125.pdf" TargetMode="External"/><Relationship Id="rId3" Type="http://schemas.openxmlformats.org/officeDocument/2006/relationships/hyperlink" Target="https://github.com/qingsongedu/time-series-transformers-review" TargetMode="Externa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ature.com/articles/s41586-021-03819-2" TargetMode="Externa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data-science/recurrent-neural-networks-rnns-3f06d7653a85" TargetMode="Externa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data-science/illustrated-guide-to-lstms-and-gru-s-a-step-by-step-explanation-44e9eb85bf21" TargetMode="Externa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data-science/illustrated-guide-to-lstms-and-gru-s-a-step-by-step-explanation-44e9eb85bf21" TargetMode="Externa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ilianweng.github.io/posts/2018-10-13-flow-models/" TargetMode="Externa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ucspe.github.io/masterthesis_danucaus/" TargetMode="Externa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ilianweng.github.io/posts/2018-10-13-flow-models/" TargetMode="Externa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ilianweng.github.io/posts/2021-07-11-diffusion-models/" TargetMode="Externa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https://medium.com/data-science/the-differences-between-artificial-and-biological-neural-networks-a8b46db828b7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https://cs231n.stanford.edu/slides/2019/cs231n_2019_lecture04.pdf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https://cs231n.stanford.edu/slides/2019/cs231n_2019_lecture04.pdf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https://cs231n.stanford.edu/slides/2019/cs231n_2019_lecture04.pdf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https://towardsdatascience.com/neural-networks-backpropagation-by-dr-lihi-gur-arie-27be67d8fdce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https://towardsdatascience.com/neural-networks-backpropagation-by-dr-lihi-gur-arie-27be67d8fdce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ac75f507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9ac75f507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789db62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8789db62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789db629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789db629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789db629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8789db629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https://lilianweng.github.io/posts/2018-10-13-flow-models/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https://lilianweng.github.io/posts/2021-07-11-diffusion-models/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https://ducspe.github.io/masterthesis_danucaus/</a:t>
            </a:r>
            <a:r>
              <a:rPr lang="en-GB">
                <a:solidFill>
                  <a:schemeClr val="dk1"/>
                </a:solidFill>
              </a:rPr>
              <a:t>  -&gt; page 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Figure 1 taken from the paper “Attention is all you need” by Vaswani et al. -&gt;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https://arxiv.org/pdf/1706.03762.pdf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4a7170d04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84a7170d04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Images were snipped from an interactive LLM visualization tool available at -&gt; </a:t>
            </a:r>
            <a:r>
              <a:rPr lang="en-GB"/>
              <a:t>https://bbycroft.net/llm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4a7170d04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84a7170d04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4a7170d04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84a7170d04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https://youtu.be/wjZofJX0v4M?si=6bOMVOZ1FK0Ya8-O&amp;t=790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6524a6e0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66524a6e0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ac75f507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9ac75f507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https://youtu.be/wjZofJX0v4M?si=OtqYas1oYNpoEvKM&amp;t=1018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Figure 1 from “</a:t>
            </a:r>
            <a:r>
              <a:rPr lang="en-GB" sz="1200">
                <a:solidFill>
                  <a:schemeClr val="dk1"/>
                </a:solidFill>
              </a:rPr>
              <a:t>Swin Transformer V2: Scaling Up Capacity and Resolution</a:t>
            </a:r>
            <a:r>
              <a:rPr lang="en-GB"/>
              <a:t>” paper by Liu et al.  -&gt;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https://arxiv.org/abs/2111.09883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822b515a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822b515a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https://youtu.be/eMlx5fFNoYc?si=3HHAKgY1_bGv_cP9&amp;t=153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4a7170d04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84a7170d04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https://www.youtube.com/watch?v=eMlx5fFNoYc&amp;t=95s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84a7170d04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84a7170d04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https://youtu.be/9-Jl0dxWQs8?si=C_2pg-d_T5EGMOkZ&amp;t=524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66524a6e0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66524a6e0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https://youtu.be/9-Jl0dxWQs8?si=uWsjpG98l0AP09rN&amp;t=775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66524a6e0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66524a6e0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https://www.nature.com/news/2005/050620/full/news050620-7.html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https://www.nature.com/articles/nature03687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https://www.researchgate.net/publication/7770938_Invariant_Visual_Representation_by_Single_Neurons_in_the_Human_Brain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66524a6e0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66524a6e0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https://youtu.be/9-Jl0dxWQs8?si=9x46MVg-sdmskaQ4&amp;t=1025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https://youtu.be/9-Jl0dxWQs8?si=_UCmtd9Utvu7WeAL&amp;t=1280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822b515a6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822b515a6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https://youtu.be/9-Jl0dxWQs8?si=zSgl6gb8fTfdniZV&amp;t=1009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https://arstechnica.com/science/2018/12/move-over-alphago-alphazero-taught-itself-to-play-three-different-games/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https://www.fz-juelich.de/en/news/archive/press-release/2022/first-european-exascale-supercomputer-coming-to-julich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https://odsc.com/blog/reinforcement-learning-with-ppo/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84a7170d04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84a7170d04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Figure 1 from the paper “An image is worth 16x16 words: Transformers for image recognition at scale” by A. Dosovitskiy et al. -&gt;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https://arxiv.org/pdf/2010.11929v2.pdf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https://medium.com/@RaghavPrabhu/understanding-of-convolutional-neural-network-cnn-deep-learning-99760835f148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https://cs231n.github.io/convolutional-networks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Figure 3 from the paper “Swin Transformer: Hierarchical Vision Transformer using Shifted Windows” by Liu et al. -&gt;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https://arxiv.org/pdf/2103.14030.pdf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https://en.wikipedia.org/wiki/Short-time_Fourier_transform#/media/File:Spectrogram-19thC.png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Figure 1 from the “Transformers in Time Series: A Survey” paper, by Wen et al. -&gt;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https://arxiv.org/pdf/2202.07125.pdf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https://github.com/qingsongedu/time-series-transformers-review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84a7170d04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g384a7170d04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Subpart of Figure 1 from the AlphaFold2 paper by John Jumper et al., available at -&gt;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https://www.nature.com/articles/s41586-021-03819-2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84a7170d0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g384a7170d0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https://medium.com/data-science/recurrent-neural-networks-rnns-3f06d7653a85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https://medium.com/data-science/illustrated-guide-to-lstms-and-gru-s-a-step-by-step-explanation-44e9eb85bf21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https://medium.com/data-science/illustrated-guide-to-lstms-and-gru-s-a-step-by-step-explanation-44e9eb85bf21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https://lilianweng.github.io/posts/2018-10-13-flow-models/</a:t>
            </a:r>
            <a:r>
              <a:rPr lang="en-GB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https://ducspe.github.io/masterthesis_danucaus/</a:t>
            </a:r>
            <a:r>
              <a:rPr lang="en-GB"/>
              <a:t>  -&gt; page 18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https://lilianweng.github.io/posts/2018-10-13-flow-models/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https://lilianweng.github.io/posts/2021-07-11-diffusion-models/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9" Type="http://schemas.openxmlformats.org/officeDocument/2006/relationships/image" Target="../media/image59.png"/><Relationship Id="rId5" Type="http://schemas.openxmlformats.org/officeDocument/2006/relationships/image" Target="../media/image29.png"/><Relationship Id="rId6" Type="http://schemas.openxmlformats.org/officeDocument/2006/relationships/image" Target="../media/image22.png"/><Relationship Id="rId7" Type="http://schemas.openxmlformats.org/officeDocument/2006/relationships/image" Target="../media/image27.png"/><Relationship Id="rId8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nature.com/news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7.png"/><Relationship Id="rId4" Type="http://schemas.openxmlformats.org/officeDocument/2006/relationships/image" Target="../media/image38.png"/><Relationship Id="rId5" Type="http://schemas.openxmlformats.org/officeDocument/2006/relationships/image" Target="../media/image45.png"/><Relationship Id="rId6" Type="http://schemas.openxmlformats.org/officeDocument/2006/relationships/image" Target="../media/image43.png"/><Relationship Id="rId7" Type="http://schemas.openxmlformats.org/officeDocument/2006/relationships/image" Target="../media/image6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1.png"/></Relationships>
</file>

<file path=ppt/slides/_rels/slide58.xml.rels><?xml version="1.0" encoding="UTF-8" standalone="yes"?><Relationships xmlns="http://schemas.openxmlformats.org/package/2006/relationships"><Relationship Id="rId20" Type="http://schemas.openxmlformats.org/officeDocument/2006/relationships/hyperlink" Target="https://arxiv.org/pdf/2103.14030.pdf" TargetMode="External"/><Relationship Id="rId22" Type="http://schemas.openxmlformats.org/officeDocument/2006/relationships/hyperlink" Target="https://arxiv.org/pdf/2202.07125.pdf" TargetMode="External"/><Relationship Id="rId21" Type="http://schemas.openxmlformats.org/officeDocument/2006/relationships/hyperlink" Target="https://en.wikipedia.org/wiki/Short-time_Fourier_transform#/media/File:Spectrogram-19thC.png" TargetMode="External"/><Relationship Id="rId24" Type="http://schemas.openxmlformats.org/officeDocument/2006/relationships/hyperlink" Target="https://www.nature.com/articles/s41586-021-03819-2" TargetMode="External"/><Relationship Id="rId23" Type="http://schemas.openxmlformats.org/officeDocument/2006/relationships/hyperlink" Target="https://github.com/qingsongedu/time-series-transformers-review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medium.com/data-science/the-differences-between-artificial-and-biological-neural-networks-a8b46db828b7" TargetMode="External"/><Relationship Id="rId4" Type="http://schemas.openxmlformats.org/officeDocument/2006/relationships/hyperlink" Target="http://cs231n.stanford.edu/slides/2019/cs231n_2019_lecture04.pdf" TargetMode="External"/><Relationship Id="rId9" Type="http://schemas.openxmlformats.org/officeDocument/2006/relationships/hyperlink" Target="https://bbycroft.net/llm" TargetMode="External"/><Relationship Id="rId26" Type="http://schemas.openxmlformats.org/officeDocument/2006/relationships/hyperlink" Target="https://medium.com/data-science/illustrated-guide-to-lstms-and-gru-s-a-step-by-step-explanation-44e9eb85bf21" TargetMode="External"/><Relationship Id="rId25" Type="http://schemas.openxmlformats.org/officeDocument/2006/relationships/hyperlink" Target="https://medium.com/data-science/recurrent-neural-networks-rnns-3f06d7653a85" TargetMode="External"/><Relationship Id="rId5" Type="http://schemas.openxmlformats.org/officeDocument/2006/relationships/hyperlink" Target="https://lilianweng.github.io/posts/2018-10-13-flow-models/" TargetMode="External"/><Relationship Id="rId6" Type="http://schemas.openxmlformats.org/officeDocument/2006/relationships/hyperlink" Target="https://lilianweng.github.io/posts/2021-07-11-diffusion-models/" TargetMode="External"/><Relationship Id="rId7" Type="http://schemas.openxmlformats.org/officeDocument/2006/relationships/hyperlink" Target="https://ducspe.github.io/masterthesis_danucaus/" TargetMode="External"/><Relationship Id="rId8" Type="http://schemas.openxmlformats.org/officeDocument/2006/relationships/hyperlink" Target="https://arxiv.org/pdf/1706.03762.pdf" TargetMode="External"/><Relationship Id="rId11" Type="http://schemas.openxmlformats.org/officeDocument/2006/relationships/hyperlink" Target="https://arxiv.org/abs/2111.09883" TargetMode="External"/><Relationship Id="rId10" Type="http://schemas.openxmlformats.org/officeDocument/2006/relationships/hyperlink" Target="https://www.youtube.com/playlist?list=PLZHQObOWTQDNU6R1_67000Dx_ZCJB-3pi" TargetMode="External"/><Relationship Id="rId13" Type="http://schemas.openxmlformats.org/officeDocument/2006/relationships/hyperlink" Target="https://www.nature.com/articles/nature03687" TargetMode="External"/><Relationship Id="rId12" Type="http://schemas.openxmlformats.org/officeDocument/2006/relationships/hyperlink" Target="https://www.nature.com/news/2005/050620/full/news050620-7.html" TargetMode="External"/><Relationship Id="rId15" Type="http://schemas.openxmlformats.org/officeDocument/2006/relationships/hyperlink" Target="https://arstechnica.com/science/2018/12/move-over-alphago-alphazero-taught-itself-to-play-three-different-games/" TargetMode="External"/><Relationship Id="rId14" Type="http://schemas.openxmlformats.org/officeDocument/2006/relationships/hyperlink" Target="https://www.researchgate.net/publication/7770938_Invariant_Visual_Representation_by_Single_Neurons_in_the_Human_Brain" TargetMode="External"/><Relationship Id="rId17" Type="http://schemas.openxmlformats.org/officeDocument/2006/relationships/hyperlink" Target="https://arxiv.org/pdf/2010.11929v2.pdf" TargetMode="External"/><Relationship Id="rId16" Type="http://schemas.openxmlformats.org/officeDocument/2006/relationships/hyperlink" Target="https://www.fz-juelich.de/en/news/archive/press-release/2022/first-european-exascale-supercomputer-coming-to-julich" TargetMode="External"/><Relationship Id="rId19" Type="http://schemas.openxmlformats.org/officeDocument/2006/relationships/hyperlink" Target="https://cs231n.github.io/convolutional-networks" TargetMode="External"/><Relationship Id="rId18" Type="http://schemas.openxmlformats.org/officeDocument/2006/relationships/hyperlink" Target="https://medium.com/@RaghavPrabhu/understanding-of-convolutional-neural-network-cnn-deep-learning-99760835f14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9FB"/>
            </a:gs>
            <a:gs pos="100000">
              <a:srgbClr val="6E9B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22550" y="1936650"/>
            <a:ext cx="66105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/>
              <a:t>Understanding</a:t>
            </a:r>
            <a:r>
              <a:rPr b="0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Transformers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Overview, Internals and Insights</a:t>
            </a:r>
            <a:endParaRPr b="0" i="1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25" y="257463"/>
            <a:ext cx="3690051" cy="23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4525" y="-122525"/>
            <a:ext cx="1382700" cy="13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0" y="4758125"/>
            <a:ext cx="23595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November 2025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724525" y="4758125"/>
            <a:ext cx="13827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Caus Danu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3182700" y="0"/>
            <a:ext cx="2862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Background notes / Prologue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27400" y="491275"/>
            <a:ext cx="8916600" cy="22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resource is intended to introduce neural networks</a:t>
            </a:r>
            <a:r>
              <a:rPr lang="en-GB"/>
              <a:t>,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generative AI at a high abstract level and subsequently focus on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explaining Transformers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more depth to a scientific audience.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Transformers will be presented in the broader context of AI, building the stage from zero, step by step.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/>
              <a:t>We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will act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synthesizer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many resources created by the broader AI community.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</a:t>
            </a:r>
            <a:r>
              <a:rPr i="0" lang="en-GB" sz="1400" u="none" cap="none" strike="noStrike">
                <a:solidFill>
                  <a:srgbClr val="1F1F1F"/>
                </a:solidFill>
              </a:rPr>
              <a:t>many thanks!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all the creators of the helper material. </a:t>
            </a:r>
            <a:r>
              <a:rPr b="1" i="0" lang="en-GB" sz="1400" u="none" cap="none" strike="noStrike">
                <a:solidFill>
                  <a:schemeClr val="dk1"/>
                </a:solidFill>
              </a:rPr>
              <a:t>All credits</a:t>
            </a:r>
            <a:r>
              <a:rPr i="0" lang="en-GB" sz="1400" u="none" cap="none" strike="noStrike">
                <a:solidFill>
                  <a:schemeClr val="dk1"/>
                </a:solidFill>
              </a:rPr>
              <a:t> and references are visible on the </a:t>
            </a:r>
            <a:r>
              <a:rPr b="1" i="0" lang="en-GB" sz="1400" u="none" cap="none" strike="noStrike">
                <a:solidFill>
                  <a:schemeClr val="dk1"/>
                </a:solidFill>
              </a:rPr>
              <a:t>last slide</a:t>
            </a:r>
            <a:r>
              <a:rPr i="0" lang="en-GB" sz="1400" u="none" cap="none" strike="noStrike">
                <a:solidFill>
                  <a:schemeClr val="dk1"/>
                </a:solidFill>
              </a:rPr>
              <a:t>.</a:t>
            </a:r>
            <a:endParaRPr i="0" sz="1400" u="none" cap="none" strike="noStrike"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Same references are also given in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foot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notes section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each individual slide, which is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visible in presentation mode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but will be useful for referencing at home for extra study, if need 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2873000" y="3346925"/>
            <a:ext cx="2862000" cy="99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Slide content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(visible in presentation mode)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2873000" y="4366474"/>
            <a:ext cx="2862000" cy="393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Footnotes / URLs / References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(not visible during presentation)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2745900" y="0"/>
            <a:ext cx="3652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Neural Nets and Brain Parallels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3125" y="920400"/>
            <a:ext cx="4763049" cy="40117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3179875" y="0"/>
            <a:ext cx="30714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Artificial Neural Networks (ANNs)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2982325" y="4789500"/>
            <a:ext cx="299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CS231n course from Stanford University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7775" y="1073650"/>
            <a:ext cx="4974000" cy="2447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164775" y="3837075"/>
            <a:ext cx="663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This is a </a:t>
            </a:r>
            <a:r>
              <a:rPr b="1" lang="en-GB" sz="1800">
                <a:solidFill>
                  <a:schemeClr val="dk1"/>
                </a:solidFill>
              </a:rPr>
              <a:t>Multi-Layer Perceptron / MLP</a:t>
            </a:r>
            <a:r>
              <a:rPr lang="en-GB" sz="1800">
                <a:solidFill>
                  <a:schemeClr val="dk1"/>
                </a:solidFill>
              </a:rPr>
              <a:t> and it is used as one of the building blocks of the Transformer.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3569925" y="0"/>
            <a:ext cx="1711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2940991" y="968075"/>
            <a:ext cx="2948100" cy="4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Feed-forward / Inference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2940988" y="4113325"/>
            <a:ext cx="3031800" cy="422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Training using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Backpropagation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2982325" y="4789500"/>
            <a:ext cx="299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CS231n course from Stanford University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8525" y="1542700"/>
            <a:ext cx="4974000" cy="24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2168225" y="0"/>
            <a:ext cx="52914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 using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Gradients and the Chain Rule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875" y="1119788"/>
            <a:ext cx="3679414" cy="186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2982325" y="4789500"/>
            <a:ext cx="299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CS231n course from Stanford University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65250" y="3365600"/>
            <a:ext cx="80994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➢"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Chain Rule is implemented with the help of 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gradients</a:t>
            </a: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➢"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recursively multiply</a:t>
            </a: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local derivatives.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➢"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Backpropagation is a 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recursive</a:t>
            </a: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application of the chain rule, backwards through the 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computational graph</a:t>
            </a: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0650" y="1338225"/>
            <a:ext cx="4714300" cy="1611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3650250" y="0"/>
            <a:ext cx="1360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function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1425" y="548600"/>
            <a:ext cx="4380226" cy="31031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919650" y="3587050"/>
            <a:ext cx="75528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GB" sz="1500">
                <a:solidFill>
                  <a:schemeClr val="dk1"/>
                </a:solidFill>
              </a:rPr>
              <a:t>N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aming conventions in the l</a:t>
            </a:r>
            <a:r>
              <a:rPr lang="en-GB" sz="1500">
                <a:solidFill>
                  <a:schemeClr val="dk1"/>
                </a:solidFill>
              </a:rPr>
              <a:t>iterature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n-GB" sz="1500" u="none" cap="none" strike="noStrike">
                <a:solidFill>
                  <a:schemeClr val="dk1"/>
                </a:solidFill>
              </a:rPr>
              <a:t>Cost / Loss / Error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GB" sz="1500">
                <a:solidFill>
                  <a:schemeClr val="dk1"/>
                </a:solidFill>
              </a:rPr>
              <a:t>The task is to find a </a:t>
            </a:r>
            <a:r>
              <a:rPr b="1" lang="en-GB" sz="1500">
                <a:solidFill>
                  <a:schemeClr val="dk1"/>
                </a:solidFill>
              </a:rPr>
              <a:t>global minimum</a:t>
            </a:r>
            <a:r>
              <a:rPr lang="en-GB" sz="1500">
                <a:solidFill>
                  <a:schemeClr val="dk1"/>
                </a:solidFill>
              </a:rPr>
              <a:t>, or </a:t>
            </a:r>
            <a:r>
              <a:rPr b="1" lang="en-GB" sz="1500">
                <a:solidFill>
                  <a:schemeClr val="dk1"/>
                </a:solidFill>
              </a:rPr>
              <a:t>good </a:t>
            </a:r>
            <a:r>
              <a:rPr lang="en-GB" sz="1500">
                <a:solidFill>
                  <a:schemeClr val="dk1"/>
                </a:solidFill>
              </a:rPr>
              <a:t>enough </a:t>
            </a:r>
            <a:r>
              <a:rPr b="1" lang="en-GB" sz="1500">
                <a:solidFill>
                  <a:schemeClr val="dk1"/>
                </a:solidFill>
              </a:rPr>
              <a:t>suboptimal minima </a:t>
            </a:r>
            <a:r>
              <a:rPr lang="en-GB" sz="1500">
                <a:solidFill>
                  <a:schemeClr val="dk1"/>
                </a:solidFill>
              </a:rPr>
              <a:t>points via the </a:t>
            </a:r>
            <a:r>
              <a:rPr b="1" lang="en-GB" sz="1500">
                <a:solidFill>
                  <a:schemeClr val="dk1"/>
                </a:solidFill>
              </a:rPr>
              <a:t>gradient descent </a:t>
            </a:r>
            <a:r>
              <a:rPr lang="en-GB" sz="1500">
                <a:solidFill>
                  <a:schemeClr val="dk1"/>
                </a:solidFill>
              </a:rPr>
              <a:t>optimization procedure, i.e. parameter search.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/>
        </p:nvSpPr>
        <p:spPr>
          <a:xfrm>
            <a:off x="3930300" y="0"/>
            <a:ext cx="1576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Weights update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3925" y="1134800"/>
            <a:ext cx="4156600" cy="182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766650" y="3215275"/>
            <a:ext cx="79035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usual notations for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function, i.e. the difference between what the model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what it should predict according to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ground truth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weights are updated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direction of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gradient, so that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function is minimized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much as possible.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25" name="Google Shape;125;p21"/>
          <p:cNvGrpSpPr/>
          <p:nvPr/>
        </p:nvGrpSpPr>
        <p:grpSpPr>
          <a:xfrm>
            <a:off x="1505150" y="255750"/>
            <a:ext cx="6366500" cy="4071575"/>
            <a:chOff x="1743650" y="303450"/>
            <a:chExt cx="6366500" cy="4071575"/>
          </a:xfrm>
        </p:grpSpPr>
        <p:pic>
          <p:nvPicPr>
            <p:cNvPr id="126" name="Google Shape;12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3650" y="303450"/>
              <a:ext cx="5191199" cy="4071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21"/>
            <p:cNvSpPr txBox="1"/>
            <p:nvPr/>
          </p:nvSpPr>
          <p:spPr>
            <a:xfrm>
              <a:off x="3324300" y="3296500"/>
              <a:ext cx="6042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W</a:t>
              </a:r>
              <a:r>
                <a:rPr baseline="-25000" lang="en-GB" sz="1800">
                  <a:solidFill>
                    <a:schemeClr val="dk1"/>
                  </a:solidFill>
                </a:rPr>
                <a:t>1</a:t>
              </a:r>
              <a:endParaRPr baseline="-25000" sz="1800">
                <a:solidFill>
                  <a:schemeClr val="dk1"/>
                </a:solidFill>
              </a:endParaRPr>
            </a:p>
          </p:txBody>
        </p:sp>
        <p:sp>
          <p:nvSpPr>
            <p:cNvPr id="128" name="Google Shape;128;p21"/>
            <p:cNvSpPr txBox="1"/>
            <p:nvPr/>
          </p:nvSpPr>
          <p:spPr>
            <a:xfrm>
              <a:off x="5527750" y="2938625"/>
              <a:ext cx="6042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W</a:t>
              </a:r>
              <a:r>
                <a:rPr baseline="-25000" lang="en-GB" sz="1800">
                  <a:solidFill>
                    <a:schemeClr val="dk1"/>
                  </a:solidFill>
                </a:rPr>
                <a:t>2</a:t>
              </a:r>
              <a:endParaRPr baseline="-25000" sz="1800">
                <a:solidFill>
                  <a:schemeClr val="dk1"/>
                </a:solidFill>
              </a:endParaRPr>
            </a:p>
          </p:txBody>
        </p:sp>
        <p:sp>
          <p:nvSpPr>
            <p:cNvPr id="129" name="Google Shape;129;p21"/>
            <p:cNvSpPr txBox="1"/>
            <p:nvPr/>
          </p:nvSpPr>
          <p:spPr>
            <a:xfrm>
              <a:off x="6513550" y="1803300"/>
              <a:ext cx="1596600" cy="55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L(</a:t>
              </a:r>
              <a:r>
                <a:rPr lang="en-GB" sz="1300">
                  <a:solidFill>
                    <a:schemeClr val="dk1"/>
                  </a:solidFill>
                </a:rPr>
                <a:t>W</a:t>
              </a:r>
              <a:r>
                <a:rPr baseline="-25000" lang="en-GB" sz="1300">
                  <a:solidFill>
                    <a:schemeClr val="dk1"/>
                  </a:solidFill>
                </a:rPr>
                <a:t>1,</a:t>
              </a:r>
              <a:r>
                <a:rPr lang="en-GB" sz="1300">
                  <a:solidFill>
                    <a:schemeClr val="dk1"/>
                  </a:solidFill>
                </a:rPr>
                <a:t>W</a:t>
              </a:r>
              <a:r>
                <a:rPr baseline="-25000" lang="en-GB" sz="1300">
                  <a:solidFill>
                    <a:schemeClr val="dk1"/>
                  </a:solidFill>
                </a:rPr>
                <a:t>2</a:t>
              </a:r>
              <a:r>
                <a:rPr lang="en-GB" sz="1800">
                  <a:solidFill>
                    <a:schemeClr val="dk1"/>
                  </a:solidFill>
                </a:rPr>
                <a:t>)</a:t>
              </a:r>
              <a:endParaRPr sz="1800">
                <a:solidFill>
                  <a:schemeClr val="dk1"/>
                </a:solidFill>
              </a:endParaRPr>
            </a:p>
          </p:txBody>
        </p:sp>
      </p:grpSp>
      <p:sp>
        <p:nvSpPr>
          <p:cNvPr id="130" name="Google Shape;130;p21"/>
          <p:cNvSpPr txBox="1"/>
          <p:nvPr/>
        </p:nvSpPr>
        <p:spPr>
          <a:xfrm>
            <a:off x="3650250" y="0"/>
            <a:ext cx="2497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Scaling to Hyperspaces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-45050" y="4027225"/>
            <a:ext cx="93093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cost function is</a:t>
            </a:r>
            <a:r>
              <a:rPr lang="en-GB">
                <a:solidFill>
                  <a:schemeClr val="dk1"/>
                </a:solidFill>
              </a:rPr>
              <a:t> much more </a:t>
            </a:r>
            <a:r>
              <a:rPr b="1" lang="en-GB">
                <a:solidFill>
                  <a:schemeClr val="dk1"/>
                </a:solidFill>
              </a:rPr>
              <a:t>complex </a:t>
            </a:r>
            <a:r>
              <a:rPr lang="en-GB">
                <a:solidFill>
                  <a:schemeClr val="dk1"/>
                </a:solidFill>
              </a:rPr>
              <a:t>for a </a:t>
            </a:r>
            <a:r>
              <a:rPr b="1" lang="en-GB">
                <a:solidFill>
                  <a:schemeClr val="dk1"/>
                </a:solidFill>
              </a:rPr>
              <a:t>typical neural net</a:t>
            </a:r>
            <a:r>
              <a:rPr lang="en-GB">
                <a:solidFill>
                  <a:schemeClr val="dk1"/>
                </a:solidFill>
              </a:rPr>
              <a:t> =&gt; Millions and even billions of weights!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GB">
                <a:solidFill>
                  <a:schemeClr val="dk1"/>
                </a:solidFill>
              </a:rPr>
              <a:t>Neural Network gradients have the ability to </a:t>
            </a:r>
            <a:r>
              <a:rPr b="1" lang="en-GB">
                <a:solidFill>
                  <a:schemeClr val="dk1"/>
                </a:solidFill>
              </a:rPr>
              <a:t>navigate the many </a:t>
            </a:r>
            <a:r>
              <a:rPr b="1" lang="en-GB">
                <a:solidFill>
                  <a:schemeClr val="dk1"/>
                </a:solidFill>
              </a:rPr>
              <a:t>dimensions skillfully</a:t>
            </a:r>
            <a:r>
              <a:rPr lang="en-GB">
                <a:solidFill>
                  <a:schemeClr val="dk1"/>
                </a:solidFill>
              </a:rPr>
              <a:t> though.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-GB">
                <a:solidFill>
                  <a:schemeClr val="dk1"/>
                </a:solidFill>
              </a:rPr>
              <a:t>And actually, having many dimensions </a:t>
            </a:r>
            <a:r>
              <a:rPr b="1" lang="en-GB">
                <a:solidFill>
                  <a:schemeClr val="dk1"/>
                </a:solidFill>
              </a:rPr>
              <a:t>helps the gradient not to get stuck</a:t>
            </a:r>
            <a:r>
              <a:rPr lang="en-GB">
                <a:solidFill>
                  <a:schemeClr val="dk1"/>
                </a:solidFill>
              </a:rPr>
              <a:t> in bad suboptimal points.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8472458" y="466460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193275" y="1366793"/>
            <a:ext cx="8707500" cy="938700"/>
          </a:xfrm>
          <a:prstGeom prst="left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of both worlds</a:t>
            </a:r>
            <a:r>
              <a:rPr lang="en-GB"/>
              <a:t>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would be </a:t>
            </a:r>
            <a:r>
              <a:rPr lang="en-GB"/>
              <a:t>to use an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</a:rPr>
              <a:t>Inductive bias + Data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800765" y="930914"/>
            <a:ext cx="31992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Discriminative models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[older established approach]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5523974" y="930914"/>
            <a:ext cx="28665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Generative models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[newer trend]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4572000" y="2382988"/>
            <a:ext cx="50016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➢"/>
            </a:pPr>
            <a:r>
              <a:rPr lang="en-GB" sz="1500">
                <a:solidFill>
                  <a:schemeClr val="dk1"/>
                </a:solidFill>
              </a:rPr>
              <a:t>Are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capable of 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 of domain generalization.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➢"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Lots of inductive bias, 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priori knowledge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injected / enforced as a guide during training.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➢"/>
            </a:pP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creative 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 discriminative models.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0" y="2383000"/>
            <a:ext cx="4574400" cy="12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➢"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lot of training data</a:t>
            </a: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throw a lot of data at the problem task and 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the network </a:t>
            </a:r>
            <a:r>
              <a:rPr b="1" lang="en-GB" sz="1500">
                <a:solidFill>
                  <a:schemeClr val="dk1"/>
                </a:solidFill>
              </a:rPr>
              <a:t>“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it out</a:t>
            </a:r>
            <a:r>
              <a:rPr b="1" lang="en-GB" sz="1500">
                <a:solidFill>
                  <a:schemeClr val="dk1"/>
                </a:solidFill>
              </a:rPr>
              <a:t>”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➢"/>
            </a:pPr>
            <a:r>
              <a:rPr b="0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Predictions are limited to the training data domain, i.e. tied to the train dataset statistics, hence </a:t>
            </a:r>
            <a:r>
              <a:rPr b="1" i="0" lang="en-GB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out of distribution predictions.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4329251" y="2078701"/>
            <a:ext cx="396400" cy="2585900"/>
          </a:xfrm>
          <a:prstGeom prst="flowChartExtract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2747360" y="-11"/>
            <a:ext cx="37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Modeling Spectrum in the current AI </a:t>
            </a:r>
            <a:r>
              <a:rPr b="1" lang="en-GB"/>
              <a:t>e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9" name="Google Shape;149;p23"/>
          <p:cNvCxnSpPr/>
          <p:nvPr/>
        </p:nvCxnSpPr>
        <p:spPr>
          <a:xfrm>
            <a:off x="1162017" y="3984827"/>
            <a:ext cx="0" cy="559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3"/>
          <p:cNvCxnSpPr/>
          <p:nvPr/>
        </p:nvCxnSpPr>
        <p:spPr>
          <a:xfrm>
            <a:off x="1616492" y="3040725"/>
            <a:ext cx="0" cy="1519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3"/>
          <p:cNvCxnSpPr/>
          <p:nvPr/>
        </p:nvCxnSpPr>
        <p:spPr>
          <a:xfrm>
            <a:off x="2222042" y="3736425"/>
            <a:ext cx="13200" cy="840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3"/>
          <p:cNvCxnSpPr/>
          <p:nvPr/>
        </p:nvCxnSpPr>
        <p:spPr>
          <a:xfrm>
            <a:off x="3145667" y="2310825"/>
            <a:ext cx="0" cy="2249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3" name="Google Shape;153;p23"/>
          <p:cNvSpPr/>
          <p:nvPr/>
        </p:nvSpPr>
        <p:spPr>
          <a:xfrm>
            <a:off x="711979" y="1896132"/>
            <a:ext cx="3739625" cy="2496450"/>
          </a:xfrm>
          <a:custGeom>
            <a:rect b="b" l="l" r="r" t="t"/>
            <a:pathLst>
              <a:path extrusionOk="0" h="99858" w="149585">
                <a:moveTo>
                  <a:pt x="0" y="96718"/>
                </a:moveTo>
                <a:cubicBezTo>
                  <a:pt x="4050" y="93432"/>
                  <a:pt x="17598" y="86437"/>
                  <a:pt x="24297" y="77003"/>
                </a:cubicBezTo>
                <a:cubicBezTo>
                  <a:pt x="30996" y="67569"/>
                  <a:pt x="34313" y="40858"/>
                  <a:pt x="40196" y="40116"/>
                </a:cubicBezTo>
                <a:cubicBezTo>
                  <a:pt x="46079" y="39374"/>
                  <a:pt x="53680" y="67357"/>
                  <a:pt x="59594" y="72551"/>
                </a:cubicBezTo>
                <a:cubicBezTo>
                  <a:pt x="65508" y="77745"/>
                  <a:pt x="70859" y="83045"/>
                  <a:pt x="75682" y="71279"/>
                </a:cubicBezTo>
                <a:cubicBezTo>
                  <a:pt x="80505" y="59513"/>
                  <a:pt x="84503" y="9801"/>
                  <a:pt x="88531" y="1957"/>
                </a:cubicBezTo>
                <a:cubicBezTo>
                  <a:pt x="92559" y="-5887"/>
                  <a:pt x="94867" y="11550"/>
                  <a:pt x="99849" y="24216"/>
                </a:cubicBezTo>
                <a:cubicBezTo>
                  <a:pt x="104831" y="36883"/>
                  <a:pt x="112380" y="65713"/>
                  <a:pt x="118422" y="77956"/>
                </a:cubicBezTo>
                <a:cubicBezTo>
                  <a:pt x="124464" y="90199"/>
                  <a:pt x="130906" y="94068"/>
                  <a:pt x="136100" y="97672"/>
                </a:cubicBezTo>
                <a:cubicBezTo>
                  <a:pt x="141294" y="101276"/>
                  <a:pt x="147338" y="99262"/>
                  <a:pt x="149585" y="99580"/>
                </a:cubicBezTo>
              </a:path>
            </a:pathLst>
          </a:cu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54" name="Google Shape;154;p23"/>
          <p:cNvCxnSpPr/>
          <p:nvPr/>
        </p:nvCxnSpPr>
        <p:spPr>
          <a:xfrm>
            <a:off x="583031" y="4560516"/>
            <a:ext cx="3997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3"/>
          <p:cNvCxnSpPr/>
          <p:nvPr/>
        </p:nvCxnSpPr>
        <p:spPr>
          <a:xfrm flipH="1" rot="10800000">
            <a:off x="590981" y="1436166"/>
            <a:ext cx="15900" cy="313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23"/>
          <p:cNvSpPr txBox="1"/>
          <p:nvPr/>
        </p:nvSpPr>
        <p:spPr>
          <a:xfrm>
            <a:off x="535492" y="4560525"/>
            <a:ext cx="82983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User prompts will statistically “sample </a:t>
            </a:r>
            <a:r>
              <a:rPr b="1" lang="en-GB" sz="1800">
                <a:solidFill>
                  <a:srgbClr val="FF0000"/>
                </a:solidFill>
              </a:rPr>
              <a:t>A</a:t>
            </a:r>
            <a:r>
              <a:rPr lang="en-GB" sz="1800">
                <a:solidFill>
                  <a:schemeClr val="dk1"/>
                </a:solidFill>
              </a:rPr>
              <a:t>nswers” from the learned model.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242849" y="739413"/>
            <a:ext cx="86583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Encode a “</a:t>
            </a:r>
            <a:r>
              <a:rPr b="1" lang="en-GB" sz="1800">
                <a:solidFill>
                  <a:schemeClr val="dk1"/>
                </a:solidFill>
              </a:rPr>
              <a:t>world</a:t>
            </a:r>
            <a:r>
              <a:rPr lang="en-GB" sz="1800">
                <a:solidFill>
                  <a:schemeClr val="dk1"/>
                </a:solidFill>
              </a:rPr>
              <a:t> </a:t>
            </a:r>
            <a:r>
              <a:rPr b="1" lang="en-GB" sz="1800">
                <a:solidFill>
                  <a:schemeClr val="dk1"/>
                </a:solidFill>
              </a:rPr>
              <a:t>model</a:t>
            </a:r>
            <a:r>
              <a:rPr lang="en-GB" sz="1800">
                <a:solidFill>
                  <a:schemeClr val="dk1"/>
                </a:solidFill>
              </a:rPr>
              <a:t>” in the form of a very-high-dimensional / complex </a:t>
            </a:r>
            <a:r>
              <a:rPr b="1" lang="en-GB" sz="1800">
                <a:solidFill>
                  <a:schemeClr val="dk1"/>
                </a:solidFill>
              </a:rPr>
              <a:t>probability distribution.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3903816" y="0"/>
            <a:ext cx="1417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Generative AI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 of earth from space (Provided by Getty Images)"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151" y="1988600"/>
            <a:ext cx="2132675" cy="211082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/>
          <p:nvPr/>
        </p:nvSpPr>
        <p:spPr>
          <a:xfrm rot="10799172">
            <a:off x="2236425" y="1460050"/>
            <a:ext cx="3736500" cy="5058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7026800" y="1856375"/>
            <a:ext cx="2376000" cy="15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GB" sz="1800">
                <a:solidFill>
                  <a:schemeClr val="dk1"/>
                </a:solidFill>
              </a:rPr>
              <a:t>Internet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GB" sz="1800">
                <a:solidFill>
                  <a:schemeClr val="dk1"/>
                </a:solidFill>
              </a:rPr>
              <a:t>Books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GB" sz="1800">
                <a:solidFill>
                  <a:schemeClr val="dk1"/>
                </a:solidFill>
              </a:rPr>
              <a:t>Images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GB" sz="1800">
                <a:solidFill>
                  <a:schemeClr val="dk1"/>
                </a:solidFill>
              </a:rPr>
              <a:t>Videos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GB" sz="1800">
                <a:solidFill>
                  <a:schemeClr val="dk1"/>
                </a:solidFill>
              </a:rPr>
              <a:t>Audio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GB" sz="1800">
                <a:solidFill>
                  <a:schemeClr val="dk1"/>
                </a:solidFill>
              </a:rPr>
              <a:t>Robotic-Arm configurations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GB" sz="1800">
                <a:solidFill>
                  <a:schemeClr val="dk1"/>
                </a:solidFill>
              </a:rPr>
              <a:t>Etc.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-63598" y="1301103"/>
            <a:ext cx="69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P(</a:t>
            </a:r>
            <a:r>
              <a:rPr b="1" lang="en-GB" sz="1800">
                <a:solidFill>
                  <a:srgbClr val="FF0000"/>
                </a:solidFill>
              </a:rPr>
              <a:t>A</a:t>
            </a:r>
            <a:r>
              <a:rPr lang="en-GB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2919375" y="0"/>
            <a:ext cx="3081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Mainstream Generative AI </a:t>
            </a:r>
            <a:r>
              <a:rPr b="1" lang="en-GB"/>
              <a:t>m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odels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97725" y="687550"/>
            <a:ext cx="8505600" cy="3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Generative Adversarial Networks / GANs -&gt; </a:t>
            </a: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Adversarial</a:t>
            </a: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training / </a:t>
            </a: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Arms race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Variational Autoencoders / VAEs -&gt; Autoencoders, but with </a:t>
            </a: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latent space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Flow-based models -&gt; </a:t>
            </a: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Invertible mapping</a:t>
            </a: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distributions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Diffusion models -&gt; </a:t>
            </a: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Markov chain</a:t>
            </a: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denoising</a:t>
            </a: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intermediate states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Transformers -&gt; we will focus our attention on them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9450" y="534625"/>
            <a:ext cx="3080976" cy="70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9425" y="1551213"/>
            <a:ext cx="3199276" cy="6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9463" y="2442500"/>
            <a:ext cx="3080949" cy="760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9437" y="3318364"/>
            <a:ext cx="3081000" cy="112318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/>
          <p:nvPr/>
        </p:nvSpPr>
        <p:spPr>
          <a:xfrm>
            <a:off x="5781348" y="4710777"/>
            <a:ext cx="2573282" cy="33765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1"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Coming Soon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/>
        </p:nvSpPr>
        <p:spPr>
          <a:xfrm>
            <a:off x="4101100" y="0"/>
            <a:ext cx="1347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Transformers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5350" y="464950"/>
            <a:ext cx="2896600" cy="421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5"/>
          <p:cNvSpPr txBox="1"/>
          <p:nvPr/>
        </p:nvSpPr>
        <p:spPr>
          <a:xfrm>
            <a:off x="2401225" y="4655475"/>
            <a:ext cx="5199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“Attention is all you need” paper from 2017 by Vaswani et al.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/>
        </p:nvSpPr>
        <p:spPr>
          <a:xfrm>
            <a:off x="3562000" y="0"/>
            <a:ext cx="2860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Conceptual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Transformer Block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1100" y="920800"/>
            <a:ext cx="1710450" cy="36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/>
          <p:nvPr/>
        </p:nvSpPr>
        <p:spPr>
          <a:xfrm>
            <a:off x="3013450" y="3643300"/>
            <a:ext cx="1521000" cy="266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3013450" y="1443500"/>
            <a:ext cx="1521000" cy="266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4534450" y="1137800"/>
            <a:ext cx="3832500" cy="878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Secondly, a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Multilayer Perceptron (MLP)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crunches the data that was communicated among tokens in the previous self-attention phase.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4534450" y="3337600"/>
            <a:ext cx="3832500" cy="878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First, the tokens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 themselves / they attend to each other (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self-attention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7"/>
          <p:cNvSpPr/>
          <p:nvPr/>
        </p:nvSpPr>
        <p:spPr>
          <a:xfrm rot="-231733">
            <a:off x="2117244" y="2906962"/>
            <a:ext cx="71262" cy="1351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E9E9E"/>
              </a:solidFill>
              <a:highlight>
                <a:srgbClr val="999999"/>
              </a:highlight>
            </a:endParaRPr>
          </a:p>
        </p:txBody>
      </p:sp>
      <p:sp>
        <p:nvSpPr>
          <p:cNvPr id="200" name="Google Shape;200;p27"/>
          <p:cNvSpPr txBox="1"/>
          <p:nvPr/>
        </p:nvSpPr>
        <p:spPr>
          <a:xfrm rot="429512">
            <a:off x="1624487" y="3336339"/>
            <a:ext cx="763149" cy="2862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MLP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3752875" y="0"/>
            <a:ext cx="18927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Realistic GPT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0875" y="422700"/>
            <a:ext cx="1718775" cy="4256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7"/>
          <p:cNvCxnSpPr/>
          <p:nvPr/>
        </p:nvCxnSpPr>
        <p:spPr>
          <a:xfrm>
            <a:off x="5384650" y="1185875"/>
            <a:ext cx="1860300" cy="254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7"/>
          <p:cNvCxnSpPr/>
          <p:nvPr/>
        </p:nvCxnSpPr>
        <p:spPr>
          <a:xfrm flipH="1" rot="10800000">
            <a:off x="5416450" y="2585275"/>
            <a:ext cx="2035200" cy="2082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7"/>
          <p:cNvSpPr txBox="1"/>
          <p:nvPr/>
        </p:nvSpPr>
        <p:spPr>
          <a:xfrm>
            <a:off x="180250" y="4683025"/>
            <a:ext cx="542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Visualize the physical structure of an LLM interactively at -&gt; </a:t>
            </a:r>
            <a:r>
              <a:rPr b="1" i="1" lang="en-GB" sz="1100">
                <a:solidFill>
                  <a:schemeClr val="dk1"/>
                </a:solidFill>
              </a:rPr>
              <a:t>h</a:t>
            </a:r>
            <a:r>
              <a:rPr b="1" i="1" lang="en-GB" sz="1100">
                <a:solidFill>
                  <a:schemeClr val="dk1"/>
                </a:solidFill>
              </a:rPr>
              <a:t>ttps://bbycroft.net/llm</a:t>
            </a:r>
            <a:endParaRPr b="1" i="1" sz="1100">
              <a:solidFill>
                <a:schemeClr val="dk1"/>
              </a:solidFill>
            </a:endParaRPr>
          </a:p>
        </p:txBody>
      </p:sp>
      <p:pic>
        <p:nvPicPr>
          <p:cNvPr id="206" name="Google Shape;20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250" y="1158925"/>
            <a:ext cx="5016301" cy="352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/>
        </p:nvSpPr>
        <p:spPr>
          <a:xfrm>
            <a:off x="3855213" y="0"/>
            <a:ext cx="1384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Self-Attention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2" name="Google Shape;212;p28"/>
          <p:cNvGrpSpPr/>
          <p:nvPr/>
        </p:nvGrpSpPr>
        <p:grpSpPr>
          <a:xfrm>
            <a:off x="325575" y="1755325"/>
            <a:ext cx="8443475" cy="1549900"/>
            <a:chOff x="325575" y="2136325"/>
            <a:chExt cx="8443475" cy="1549900"/>
          </a:xfrm>
        </p:grpSpPr>
        <p:sp>
          <p:nvSpPr>
            <p:cNvPr id="213" name="Google Shape;213;p28"/>
            <p:cNvSpPr/>
            <p:nvPr/>
          </p:nvSpPr>
          <p:spPr>
            <a:xfrm>
              <a:off x="325575" y="2426400"/>
              <a:ext cx="742500" cy="290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GB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Token 1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1269025" y="2426400"/>
              <a:ext cx="742500" cy="290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GB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Token 2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2212475" y="2426400"/>
              <a:ext cx="742500" cy="290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GB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Token 3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7953895" y="2426400"/>
              <a:ext cx="742500" cy="290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GB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Token N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729182" y="2217119"/>
              <a:ext cx="952500" cy="161400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687775" y="2136325"/>
              <a:ext cx="1905000" cy="290700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8"/>
            <p:cNvSpPr/>
            <p:nvPr/>
          </p:nvSpPr>
          <p:spPr>
            <a:xfrm>
              <a:off x="680750" y="2733725"/>
              <a:ext cx="8088300" cy="952500"/>
            </a:xfrm>
            <a:prstGeom prst="curvedUp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8"/>
            <p:cNvSpPr txBox="1"/>
            <p:nvPr/>
          </p:nvSpPr>
          <p:spPr>
            <a:xfrm>
              <a:off x="4469800" y="2152475"/>
              <a:ext cx="2369100" cy="2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GB" sz="3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 . . </a:t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8"/>
            <p:cNvSpPr/>
            <p:nvPr/>
          </p:nvSpPr>
          <p:spPr>
            <a:xfrm>
              <a:off x="1649375" y="2749875"/>
              <a:ext cx="1033200" cy="290700"/>
            </a:xfrm>
            <a:prstGeom prst="curvedUpArrow">
              <a:avLst>
                <a:gd fmla="val 25000" name="adj1"/>
                <a:gd fmla="val 50000" name="adj2"/>
                <a:gd fmla="val 55538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8"/>
            <p:cNvSpPr/>
            <p:nvPr/>
          </p:nvSpPr>
          <p:spPr>
            <a:xfrm>
              <a:off x="1584787" y="2748825"/>
              <a:ext cx="6780600" cy="598500"/>
            </a:xfrm>
            <a:prstGeom prst="curvedUpArrow">
              <a:avLst>
                <a:gd fmla="val 25000" name="adj1"/>
                <a:gd fmla="val 50000" name="adj2"/>
                <a:gd fmla="val 11464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28"/>
          <p:cNvSpPr txBox="1"/>
          <p:nvPr/>
        </p:nvSpPr>
        <p:spPr>
          <a:xfrm>
            <a:off x="183213" y="3650175"/>
            <a:ext cx="87282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tokens communicate with one another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computationally expensive</a:t>
            </a:r>
            <a:r>
              <a:rPr lang="en-GB"/>
              <a:t> </a:t>
            </a:r>
            <a:r>
              <a:rPr i="1" lang="en-GB"/>
              <a:t>[i.e. </a:t>
            </a:r>
            <a:r>
              <a:rPr b="0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O(N</a:t>
            </a:r>
            <a:r>
              <a:rPr baseline="30000" i="1" lang="en-GB"/>
              <a:t>2</a:t>
            </a:r>
            <a:r>
              <a:rPr b="0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complexity</a:t>
            </a:r>
            <a:r>
              <a:rPr i="1" lang="en-GB"/>
              <a:t>]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because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token has to look at every other token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compute an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attention score / attention weight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5" name="Google Shape;225;p28"/>
          <p:cNvSpPr/>
          <p:nvPr/>
        </p:nvSpPr>
        <p:spPr>
          <a:xfrm rot="-5400000">
            <a:off x="4437525" y="-2987025"/>
            <a:ext cx="143100" cy="8651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8"/>
          <p:cNvSpPr txBox="1"/>
          <p:nvPr/>
        </p:nvSpPr>
        <p:spPr>
          <a:xfrm>
            <a:off x="3684300" y="736675"/>
            <a:ext cx="19026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Context-length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/>
        </p:nvSpPr>
        <p:spPr>
          <a:xfrm>
            <a:off x="3071250" y="0"/>
            <a:ext cx="2838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Increasing the Context Length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5022450" y="1212300"/>
            <a:ext cx="3450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Reducing attention complexity is a very hot topic today</a:t>
            </a:r>
            <a:r>
              <a:rPr lang="en-GB" sz="1800">
                <a:solidFill>
                  <a:schemeClr val="dk1"/>
                </a:solidFill>
              </a:rPr>
              <a:t>🔥</a:t>
            </a:r>
            <a:r>
              <a:rPr lang="en-GB" sz="1800">
                <a:solidFill>
                  <a:schemeClr val="dk1"/>
                </a:solidFill>
              </a:rPr>
              <a:t>. This would allow for </a:t>
            </a:r>
            <a:r>
              <a:rPr b="1" lang="en-GB" sz="1800">
                <a:solidFill>
                  <a:schemeClr val="dk1"/>
                </a:solidFill>
              </a:rPr>
              <a:t>more context memory</a:t>
            </a:r>
            <a:r>
              <a:rPr lang="en-GB" sz="1800">
                <a:solidFill>
                  <a:schemeClr val="dk1"/>
                </a:solidFill>
              </a:rPr>
              <a:t> to be used when tackling problems. More memory means </a:t>
            </a:r>
            <a:r>
              <a:rPr b="1" lang="en-GB" sz="1800">
                <a:solidFill>
                  <a:schemeClr val="dk1"/>
                </a:solidFill>
              </a:rPr>
              <a:t>longer chains of thinking</a:t>
            </a:r>
            <a:r>
              <a:rPr lang="en-GB" sz="1800">
                <a:solidFill>
                  <a:schemeClr val="dk1"/>
                </a:solidFill>
              </a:rPr>
              <a:t> =&gt; </a:t>
            </a:r>
            <a:r>
              <a:rPr b="1" lang="en-GB" sz="1800">
                <a:solidFill>
                  <a:schemeClr val="dk1"/>
                </a:solidFill>
              </a:rPr>
              <a:t>thinking is computationally distributed over more tokens</a:t>
            </a:r>
            <a:r>
              <a:rPr lang="en-GB" sz="1800">
                <a:solidFill>
                  <a:schemeClr val="dk1"/>
                </a:solidFill>
              </a:rPr>
              <a:t>, which </a:t>
            </a:r>
            <a:r>
              <a:rPr lang="en-GB" sz="1800">
                <a:solidFill>
                  <a:schemeClr val="dk1"/>
                </a:solidFill>
              </a:rPr>
              <a:t>generally </a:t>
            </a:r>
            <a:r>
              <a:rPr lang="en-GB" sz="1800">
                <a:solidFill>
                  <a:schemeClr val="dk1"/>
                </a:solidFill>
              </a:rPr>
              <a:t>helps producing more accurate answers and can </a:t>
            </a:r>
            <a:r>
              <a:rPr b="1" lang="en-GB" sz="1800">
                <a:solidFill>
                  <a:schemeClr val="dk1"/>
                </a:solidFill>
              </a:rPr>
              <a:t>reduce </a:t>
            </a:r>
            <a:r>
              <a:rPr b="1" lang="en-GB" sz="1800">
                <a:solidFill>
                  <a:schemeClr val="dk1"/>
                </a:solidFill>
              </a:rPr>
              <a:t>hallucinations</a:t>
            </a:r>
            <a:r>
              <a:rPr lang="en-GB" sz="1800">
                <a:solidFill>
                  <a:schemeClr val="dk1"/>
                </a:solidFill>
              </a:rPr>
              <a:t> 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288825" y="1212300"/>
            <a:ext cx="3816000" cy="3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-GB" sz="1800">
                <a:solidFill>
                  <a:schemeClr val="dk1"/>
                </a:solidFill>
              </a:rPr>
              <a:t>Sparse Attention</a:t>
            </a:r>
            <a:r>
              <a:rPr lang="en-GB" sz="1800">
                <a:solidFill>
                  <a:schemeClr val="dk1"/>
                </a:solidFill>
              </a:rPr>
              <a:t> Mechanisms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GB" sz="1800">
                <a:solidFill>
                  <a:schemeClr val="dk1"/>
                </a:solidFill>
              </a:rPr>
              <a:t>Linformer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GB" sz="1800">
                <a:solidFill>
                  <a:schemeClr val="dk1"/>
                </a:solidFill>
              </a:rPr>
              <a:t>Reformer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GB" sz="1800">
                <a:solidFill>
                  <a:schemeClr val="dk1"/>
                </a:solidFill>
              </a:rPr>
              <a:t>Longformer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-GB" sz="1800">
                <a:solidFill>
                  <a:schemeClr val="dk1"/>
                </a:solidFill>
              </a:rPr>
              <a:t>Blockwise </a:t>
            </a:r>
            <a:r>
              <a:rPr lang="en-GB" sz="1800">
                <a:solidFill>
                  <a:schemeClr val="dk1"/>
                </a:solidFill>
              </a:rPr>
              <a:t>Attention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-GB" sz="1800">
                <a:solidFill>
                  <a:schemeClr val="dk1"/>
                </a:solidFill>
              </a:rPr>
              <a:t>Ring Attention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4363075" y="1324975"/>
            <a:ext cx="342000" cy="3211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/>
        </p:nvSpPr>
        <p:spPr>
          <a:xfrm>
            <a:off x="3013350" y="0"/>
            <a:ext cx="3116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Key, Query and Value Embeddings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2780925" y="1704213"/>
            <a:ext cx="3308100" cy="2322300"/>
          </a:xfrm>
          <a:prstGeom prst="leftRigh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3622575" y="2577113"/>
            <a:ext cx="1624800" cy="161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3179275" y="1090963"/>
            <a:ext cx="2448600" cy="57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-&gt; </a:t>
            </a:r>
            <a:r>
              <a:rPr b="0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“What do I contain”.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511575" y="3145663"/>
            <a:ext cx="2197800" cy="57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“What am I looking for”.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6129300" y="2984513"/>
            <a:ext cx="2390400" cy="96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“If you find me interesting, this is what I will communicate to you”.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/>
          <p:nvPr/>
        </p:nvSpPr>
        <p:spPr>
          <a:xfrm>
            <a:off x="3302350" y="0"/>
            <a:ext cx="3028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Self-Attention vs Cross-Attention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3675" y="1670200"/>
            <a:ext cx="3476050" cy="220162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1"/>
          <p:cNvSpPr/>
          <p:nvPr/>
        </p:nvSpPr>
        <p:spPr>
          <a:xfrm>
            <a:off x="4703600" y="1266850"/>
            <a:ext cx="147600" cy="505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3432275" y="532700"/>
            <a:ext cx="2703900" cy="104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Cross-Attention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-&gt; the </a:t>
            </a:r>
            <a:r>
              <a:rPr b="0" i="1" lang="en-GB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queries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come from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decoder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whereas the </a:t>
            </a:r>
            <a:r>
              <a:rPr b="0" i="1" lang="en-GB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GB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from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3742350" y="3684150"/>
            <a:ext cx="147600" cy="344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5671925" y="3684150"/>
            <a:ext cx="147600" cy="344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3197350" y="3984100"/>
            <a:ext cx="3079800" cy="1096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Self-attention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-&gt; the </a:t>
            </a:r>
            <a:r>
              <a:rPr b="0" i="1" lang="en-GB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GB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GB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vectors are related to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same entity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either the encoder, or the decoder.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32"/>
          <p:cNvGrpSpPr/>
          <p:nvPr/>
        </p:nvGrpSpPr>
        <p:grpSpPr>
          <a:xfrm>
            <a:off x="0" y="1945891"/>
            <a:ext cx="9144000" cy="3225926"/>
            <a:chOff x="-31800" y="1917575"/>
            <a:chExt cx="9144000" cy="3225926"/>
          </a:xfrm>
        </p:grpSpPr>
        <p:pic>
          <p:nvPicPr>
            <p:cNvPr id="264" name="Google Shape;264;p32" title="Screenshot 2025-09-25 141621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31800" y="1917575"/>
              <a:ext cx="9144000" cy="32259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32"/>
            <p:cNvSpPr/>
            <p:nvPr/>
          </p:nvSpPr>
          <p:spPr>
            <a:xfrm>
              <a:off x="8011750" y="4868226"/>
              <a:ext cx="1068653" cy="18860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chemeClr val="lt2"/>
                  </a:solidFill>
                  <a:latin typeface="Arial"/>
                </a:rPr>
                <a:t>3Blue1Brown</a:t>
              </a:r>
            </a:p>
          </p:txBody>
        </p:sp>
      </p:grpSp>
      <p:sp>
        <p:nvSpPr>
          <p:cNvPr id="266" name="Google Shape;266;p32"/>
          <p:cNvSpPr txBox="1"/>
          <p:nvPr/>
        </p:nvSpPr>
        <p:spPr>
          <a:xfrm>
            <a:off x="3731275" y="0"/>
            <a:ext cx="2083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Token Embeddings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2"/>
          <p:cNvSpPr txBox="1"/>
          <p:nvPr/>
        </p:nvSpPr>
        <p:spPr>
          <a:xfrm>
            <a:off x="224850" y="677100"/>
            <a:ext cx="88476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Tokens become </a:t>
            </a:r>
            <a:r>
              <a:rPr b="1" lang="en-GB" sz="1800">
                <a:solidFill>
                  <a:schemeClr val="dk1"/>
                </a:solidFill>
              </a:rPr>
              <a:t>positional vectors in a semantic space</a:t>
            </a:r>
            <a:r>
              <a:rPr lang="en-GB" sz="1800">
                <a:solidFill>
                  <a:schemeClr val="dk1"/>
                </a:solidFill>
              </a:rPr>
              <a:t> and are stored in an “</a:t>
            </a:r>
            <a:r>
              <a:rPr b="1" lang="en-GB" sz="1800">
                <a:solidFill>
                  <a:schemeClr val="dk1"/>
                </a:solidFill>
              </a:rPr>
              <a:t>Embedding Matrix</a:t>
            </a:r>
            <a:r>
              <a:rPr lang="en-GB" sz="1800">
                <a:solidFill>
                  <a:schemeClr val="dk1"/>
                </a:solidFill>
              </a:rPr>
              <a:t>”. Our task will be to predict the next token, i.e. the </a:t>
            </a:r>
            <a:r>
              <a:rPr lang="en-GB" sz="1800">
                <a:solidFill>
                  <a:schemeClr val="dk1"/>
                </a:solidFill>
              </a:rPr>
              <a:t>embedding</a:t>
            </a:r>
            <a:r>
              <a:rPr lang="en-GB" sz="1800">
                <a:solidFill>
                  <a:schemeClr val="dk1"/>
                </a:solidFill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vector</a:t>
            </a:r>
            <a:r>
              <a:rPr lang="en-GB" sz="1800">
                <a:solidFill>
                  <a:schemeClr val="dk1"/>
                </a:solidFill>
              </a:rPr>
              <a:t> of the next token.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8" name="Google Shape;268;p32"/>
          <p:cNvSpPr/>
          <p:nvPr/>
        </p:nvSpPr>
        <p:spPr>
          <a:xfrm rot="5400000">
            <a:off x="7172550" y="223550"/>
            <a:ext cx="318000" cy="2727600"/>
          </a:xfrm>
          <a:prstGeom prst="bentArrow">
            <a:avLst>
              <a:gd fmla="val 25000" name="adj1"/>
              <a:gd fmla="val 22500" name="adj2"/>
              <a:gd fmla="val 32516" name="adj3"/>
              <a:gd fmla="val 49984" name="adj4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/>
        </p:nvSpPr>
        <p:spPr>
          <a:xfrm>
            <a:off x="3345750" y="0"/>
            <a:ext cx="2325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Transformation Pipelines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6" name="Google Shape;276;p33"/>
          <p:cNvSpPr/>
          <p:nvPr/>
        </p:nvSpPr>
        <p:spPr>
          <a:xfrm>
            <a:off x="1163375" y="1857750"/>
            <a:ext cx="445800" cy="190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</a:t>
            </a:r>
            <a:endParaRPr/>
          </a:p>
        </p:txBody>
      </p:sp>
      <p:sp>
        <p:nvSpPr>
          <p:cNvPr id="277" name="Google Shape;277;p33"/>
          <p:cNvSpPr/>
          <p:nvPr/>
        </p:nvSpPr>
        <p:spPr>
          <a:xfrm>
            <a:off x="3431425" y="727550"/>
            <a:ext cx="2145000" cy="9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Transform</a:t>
            </a:r>
            <a:endParaRPr/>
          </a:p>
        </p:txBody>
      </p:sp>
      <p:sp>
        <p:nvSpPr>
          <p:cNvPr id="278" name="Google Shape;278;p33"/>
          <p:cNvSpPr/>
          <p:nvPr/>
        </p:nvSpPr>
        <p:spPr>
          <a:xfrm>
            <a:off x="3431425" y="2311338"/>
            <a:ext cx="2145000" cy="9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Query Transform</a:t>
            </a:r>
            <a:endParaRPr/>
          </a:p>
        </p:txBody>
      </p:sp>
      <p:sp>
        <p:nvSpPr>
          <p:cNvPr id="279" name="Google Shape;279;p33"/>
          <p:cNvSpPr/>
          <p:nvPr/>
        </p:nvSpPr>
        <p:spPr>
          <a:xfrm>
            <a:off x="3431425" y="3961625"/>
            <a:ext cx="2145000" cy="9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Value Transform</a:t>
            </a:r>
            <a:endParaRPr/>
          </a:p>
        </p:txBody>
      </p:sp>
      <p:sp>
        <p:nvSpPr>
          <p:cNvPr id="280" name="Google Shape;280;p33"/>
          <p:cNvSpPr/>
          <p:nvPr/>
        </p:nvSpPr>
        <p:spPr>
          <a:xfrm>
            <a:off x="7144900" y="727575"/>
            <a:ext cx="253800" cy="9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</a:t>
            </a:r>
            <a:endParaRPr/>
          </a:p>
        </p:txBody>
      </p:sp>
      <p:sp>
        <p:nvSpPr>
          <p:cNvPr id="281" name="Google Shape;281;p33"/>
          <p:cNvSpPr/>
          <p:nvPr/>
        </p:nvSpPr>
        <p:spPr>
          <a:xfrm>
            <a:off x="7144900" y="2308890"/>
            <a:ext cx="253800" cy="9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</a:t>
            </a:r>
            <a:endParaRPr/>
          </a:p>
        </p:txBody>
      </p:sp>
      <p:sp>
        <p:nvSpPr>
          <p:cNvPr id="282" name="Google Shape;282;p33"/>
          <p:cNvSpPr/>
          <p:nvPr/>
        </p:nvSpPr>
        <p:spPr>
          <a:xfrm>
            <a:off x="7144900" y="3961625"/>
            <a:ext cx="253800" cy="99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endParaRPr/>
          </a:p>
        </p:txBody>
      </p:sp>
      <p:cxnSp>
        <p:nvCxnSpPr>
          <p:cNvPr id="283" name="Google Shape;283;p33"/>
          <p:cNvCxnSpPr>
            <a:stCxn id="276" idx="3"/>
            <a:endCxn id="277" idx="1"/>
          </p:cNvCxnSpPr>
          <p:nvPr/>
        </p:nvCxnSpPr>
        <p:spPr>
          <a:xfrm flipH="1" rot="10800000">
            <a:off x="1609175" y="1227450"/>
            <a:ext cx="1822200" cy="158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33"/>
          <p:cNvCxnSpPr>
            <a:stCxn id="276" idx="3"/>
            <a:endCxn id="278" idx="1"/>
          </p:cNvCxnSpPr>
          <p:nvPr/>
        </p:nvCxnSpPr>
        <p:spPr>
          <a:xfrm>
            <a:off x="1609175" y="2811150"/>
            <a:ext cx="182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p33"/>
          <p:cNvCxnSpPr>
            <a:stCxn id="276" idx="3"/>
            <a:endCxn id="279" idx="1"/>
          </p:cNvCxnSpPr>
          <p:nvPr/>
        </p:nvCxnSpPr>
        <p:spPr>
          <a:xfrm>
            <a:off x="1609175" y="2811150"/>
            <a:ext cx="1822200" cy="165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33"/>
          <p:cNvCxnSpPr>
            <a:stCxn id="278" idx="3"/>
            <a:endCxn id="281" idx="1"/>
          </p:cNvCxnSpPr>
          <p:nvPr/>
        </p:nvCxnSpPr>
        <p:spPr>
          <a:xfrm flipH="1" rot="10800000">
            <a:off x="5576425" y="2808738"/>
            <a:ext cx="15684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33"/>
          <p:cNvCxnSpPr>
            <a:stCxn id="277" idx="3"/>
            <a:endCxn id="280" idx="1"/>
          </p:cNvCxnSpPr>
          <p:nvPr/>
        </p:nvCxnSpPr>
        <p:spPr>
          <a:xfrm>
            <a:off x="5576425" y="1227350"/>
            <a:ext cx="156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33"/>
          <p:cNvCxnSpPr>
            <a:stCxn id="279" idx="3"/>
            <a:endCxn id="282" idx="1"/>
          </p:cNvCxnSpPr>
          <p:nvPr/>
        </p:nvCxnSpPr>
        <p:spPr>
          <a:xfrm>
            <a:off x="5576425" y="4461425"/>
            <a:ext cx="156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p33"/>
          <p:cNvSpPr txBox="1"/>
          <p:nvPr/>
        </p:nvSpPr>
        <p:spPr>
          <a:xfrm>
            <a:off x="2449875" y="1557475"/>
            <a:ext cx="3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✖</a:t>
            </a:r>
            <a:endParaRPr/>
          </a:p>
        </p:txBody>
      </p:sp>
      <p:sp>
        <p:nvSpPr>
          <p:cNvPr id="290" name="Google Shape;290;p33"/>
          <p:cNvSpPr txBox="1"/>
          <p:nvPr/>
        </p:nvSpPr>
        <p:spPr>
          <a:xfrm>
            <a:off x="2449875" y="2493125"/>
            <a:ext cx="3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✖</a:t>
            </a:r>
            <a:endParaRPr/>
          </a:p>
        </p:txBody>
      </p:sp>
      <p:sp>
        <p:nvSpPr>
          <p:cNvPr id="291" name="Google Shape;291;p33"/>
          <p:cNvSpPr txBox="1"/>
          <p:nvPr/>
        </p:nvSpPr>
        <p:spPr>
          <a:xfrm>
            <a:off x="2449875" y="3344200"/>
            <a:ext cx="3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✖</a:t>
            </a:r>
            <a:endParaRPr/>
          </a:p>
        </p:txBody>
      </p:sp>
      <p:sp>
        <p:nvSpPr>
          <p:cNvPr id="292" name="Google Shape;292;p33"/>
          <p:cNvSpPr txBox="1"/>
          <p:nvPr/>
        </p:nvSpPr>
        <p:spPr>
          <a:xfrm>
            <a:off x="644425" y="3910550"/>
            <a:ext cx="137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Token Embedding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3" name="Google Shape;293;p33"/>
          <p:cNvSpPr txBox="1"/>
          <p:nvPr/>
        </p:nvSpPr>
        <p:spPr>
          <a:xfrm>
            <a:off x="7522295" y="1050500"/>
            <a:ext cx="515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Key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4" name="Google Shape;294;p33"/>
          <p:cNvSpPr txBox="1"/>
          <p:nvPr/>
        </p:nvSpPr>
        <p:spPr>
          <a:xfrm>
            <a:off x="7521628" y="2654865"/>
            <a:ext cx="67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Query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5" name="Google Shape;295;p33"/>
          <p:cNvSpPr txBox="1"/>
          <p:nvPr/>
        </p:nvSpPr>
        <p:spPr>
          <a:xfrm>
            <a:off x="7535635" y="4305350"/>
            <a:ext cx="670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Value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"/>
          <p:cNvSpPr txBox="1"/>
          <p:nvPr/>
        </p:nvSpPr>
        <p:spPr>
          <a:xfrm>
            <a:off x="3383675" y="0"/>
            <a:ext cx="2271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Transformation Matrices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02" name="Google Shape;30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425" y="881550"/>
            <a:ext cx="4848650" cy="994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3425" y="3728526"/>
            <a:ext cx="4792974" cy="7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7575" y="1193823"/>
            <a:ext cx="904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5425" y="2595628"/>
            <a:ext cx="8667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96750" y="4007302"/>
            <a:ext cx="8477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6250" y="2229100"/>
            <a:ext cx="1178225" cy="108222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4"/>
          <p:cNvSpPr txBox="1"/>
          <p:nvPr/>
        </p:nvSpPr>
        <p:spPr>
          <a:xfrm>
            <a:off x="129848" y="4687075"/>
            <a:ext cx="86733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An embedding </a:t>
            </a:r>
            <a:r>
              <a:rPr b="1" lang="en-GB" sz="1100">
                <a:solidFill>
                  <a:schemeClr val="dk1"/>
                </a:solidFill>
              </a:rPr>
              <a:t>transform </a:t>
            </a:r>
            <a:r>
              <a:rPr lang="en-GB" sz="1100">
                <a:solidFill>
                  <a:schemeClr val="dk1"/>
                </a:solidFill>
              </a:rPr>
              <a:t>is a </a:t>
            </a:r>
            <a:r>
              <a:rPr b="1" lang="en-GB" sz="1100">
                <a:solidFill>
                  <a:schemeClr val="dk1"/>
                </a:solidFill>
              </a:rPr>
              <a:t>multiplication </a:t>
            </a:r>
            <a:r>
              <a:rPr lang="en-GB" sz="1100">
                <a:solidFill>
                  <a:schemeClr val="dk1"/>
                </a:solidFill>
              </a:rPr>
              <a:t>with a specialized </a:t>
            </a:r>
            <a:r>
              <a:rPr b="1" lang="en-GB" sz="1100">
                <a:solidFill>
                  <a:schemeClr val="dk1"/>
                </a:solidFill>
              </a:rPr>
              <a:t>matrix</a:t>
            </a:r>
            <a:r>
              <a:rPr lang="en-GB" sz="1100">
                <a:solidFill>
                  <a:schemeClr val="dk1"/>
                </a:solidFill>
              </a:rPr>
              <a:t>, the parameters of which</a:t>
            </a:r>
            <a:r>
              <a:rPr b="1"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the transformer needs to </a:t>
            </a:r>
            <a:r>
              <a:rPr b="1" lang="en-GB" sz="1100">
                <a:solidFill>
                  <a:schemeClr val="dk1"/>
                </a:solidFill>
              </a:rPr>
              <a:t>learn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09" name="Google Shape;309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63575" y="2335179"/>
            <a:ext cx="4848649" cy="79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 txBox="1"/>
          <p:nvPr/>
        </p:nvSpPr>
        <p:spPr>
          <a:xfrm>
            <a:off x="2976025" y="0"/>
            <a:ext cx="3729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Mathematically Expressing Self-Attention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5"/>
          <p:cNvSpPr txBox="1"/>
          <p:nvPr/>
        </p:nvSpPr>
        <p:spPr>
          <a:xfrm>
            <a:off x="493950" y="645750"/>
            <a:ext cx="81561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dot product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 ・ Key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attention score, where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vectors </a:t>
            </a:r>
            <a:r>
              <a:rPr i="0" lang="en-GB" sz="1400" u="none" cap="none" strike="noStrike">
                <a:solidFill>
                  <a:srgbClr val="000000"/>
                </a:solidFill>
              </a:rPr>
              <a:t>derived from the token e</a:t>
            </a:r>
            <a:r>
              <a:rPr lang="en-GB"/>
              <a:t>mbedding via matrix transformations</a:t>
            </a:r>
            <a:r>
              <a:rPr i="0" lang="en-GB" sz="1400" u="none" cap="none" strike="noStrike">
                <a:solidFill>
                  <a:srgbClr val="000000"/>
                </a:solidFill>
              </a:rPr>
              <a:t>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Dot product measures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similarity between vectors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=&gt;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Attention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be interpreted as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alignment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between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vectors (i.e. two tokens find each other interesting).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 of the dot product, other measures can be used, like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cosine similarity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example (see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Transformer Version 2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paper).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17" name="Google Shape;317;p35"/>
          <p:cNvGrpSpPr/>
          <p:nvPr/>
        </p:nvGrpSpPr>
        <p:grpSpPr>
          <a:xfrm>
            <a:off x="2084200" y="2571755"/>
            <a:ext cx="4684426" cy="2465045"/>
            <a:chOff x="2084200" y="2571755"/>
            <a:chExt cx="4684426" cy="2465045"/>
          </a:xfrm>
        </p:grpSpPr>
        <p:pic>
          <p:nvPicPr>
            <p:cNvPr id="318" name="Google Shape;31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84200" y="2571755"/>
              <a:ext cx="4684426" cy="2465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35"/>
            <p:cNvSpPr/>
            <p:nvPr/>
          </p:nvSpPr>
          <p:spPr>
            <a:xfrm>
              <a:off x="2100100" y="4824351"/>
              <a:ext cx="1068653" cy="18860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chemeClr val="lt2"/>
                  </a:solidFill>
                  <a:latin typeface="Arial"/>
                </a:rPr>
                <a:t>3Blue1Brown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 txBox="1"/>
          <p:nvPr/>
        </p:nvSpPr>
        <p:spPr>
          <a:xfrm>
            <a:off x="3429550" y="0"/>
            <a:ext cx="16689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Cosine similarity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675" y="626800"/>
            <a:ext cx="4589251" cy="405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6"/>
          <p:cNvSpPr txBox="1"/>
          <p:nvPr/>
        </p:nvSpPr>
        <p:spPr>
          <a:xfrm>
            <a:off x="1647250" y="4678775"/>
            <a:ext cx="558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Swin Transformer V2: Scaling Up Capacity and Resolution</a:t>
            </a: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by Liu et al.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6"/>
          <p:cNvSpPr txBox="1"/>
          <p:nvPr/>
        </p:nvSpPr>
        <p:spPr>
          <a:xfrm>
            <a:off x="6459000" y="2030250"/>
            <a:ext cx="26850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Notice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-Layer Norm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-Layer Norm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36"/>
          <p:cNvCxnSpPr/>
          <p:nvPr/>
        </p:nvCxnSpPr>
        <p:spPr>
          <a:xfrm rot="10800000">
            <a:off x="5967325" y="1520275"/>
            <a:ext cx="1714500" cy="637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9" name="Google Shape;329;p36"/>
          <p:cNvCxnSpPr/>
          <p:nvPr/>
        </p:nvCxnSpPr>
        <p:spPr>
          <a:xfrm flipH="1">
            <a:off x="5931800" y="2738725"/>
            <a:ext cx="1445400" cy="481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0" name="Google Shape;33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/>
          <p:cNvSpPr txBox="1"/>
          <p:nvPr/>
        </p:nvSpPr>
        <p:spPr>
          <a:xfrm>
            <a:off x="2593475" y="0"/>
            <a:ext cx="4348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Discerning meaning among different contexts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37" name="Google Shape;337;p37"/>
          <p:cNvGrpSpPr/>
          <p:nvPr/>
        </p:nvGrpSpPr>
        <p:grpSpPr>
          <a:xfrm>
            <a:off x="164159" y="3783700"/>
            <a:ext cx="8815700" cy="892125"/>
            <a:chOff x="169884" y="3914700"/>
            <a:chExt cx="8815700" cy="892125"/>
          </a:xfrm>
        </p:grpSpPr>
        <p:sp>
          <p:nvSpPr>
            <p:cNvPr id="338" name="Google Shape;338;p37"/>
            <p:cNvSpPr txBox="1"/>
            <p:nvPr/>
          </p:nvSpPr>
          <p:spPr>
            <a:xfrm>
              <a:off x="169884" y="3914700"/>
              <a:ext cx="41085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The </a:t>
              </a:r>
              <a:r>
                <a:rPr b="1" lang="en-GB" sz="1800">
                  <a:solidFill>
                    <a:schemeClr val="dk1"/>
                  </a:solidFill>
                </a:rPr>
                <a:t>mole </a:t>
              </a:r>
              <a:r>
                <a:rPr lang="en-GB" sz="1800">
                  <a:solidFill>
                    <a:schemeClr val="dk1"/>
                  </a:solidFill>
                </a:rPr>
                <a:t>on his face</a:t>
              </a:r>
              <a:r>
                <a:rPr b="1" lang="en-GB" sz="1800">
                  <a:solidFill>
                    <a:schemeClr val="dk1"/>
                  </a:solidFill>
                </a:rPr>
                <a:t> </a:t>
              </a:r>
              <a:r>
                <a:rPr lang="en-GB" sz="1800">
                  <a:solidFill>
                    <a:schemeClr val="dk1"/>
                  </a:solidFill>
                </a:rPr>
                <a:t>was benign.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339" name="Google Shape;339;p37"/>
            <p:cNvSpPr txBox="1"/>
            <p:nvPr/>
          </p:nvSpPr>
          <p:spPr>
            <a:xfrm>
              <a:off x="5798984" y="3914700"/>
              <a:ext cx="31866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The </a:t>
              </a:r>
              <a:r>
                <a:rPr b="1" lang="en-GB" sz="1800">
                  <a:solidFill>
                    <a:schemeClr val="dk1"/>
                  </a:solidFill>
                </a:rPr>
                <a:t>mole </a:t>
              </a:r>
              <a:r>
                <a:rPr lang="en-GB" sz="1800">
                  <a:solidFill>
                    <a:schemeClr val="dk1"/>
                  </a:solidFill>
                </a:rPr>
                <a:t>lives underground.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340" name="Google Shape;340;p37"/>
            <p:cNvSpPr txBox="1"/>
            <p:nvPr/>
          </p:nvSpPr>
          <p:spPr>
            <a:xfrm>
              <a:off x="216859" y="4496925"/>
              <a:ext cx="7679400" cy="30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</a:rPr>
                <a:t>Attention will capture the meaning of a word </a:t>
              </a:r>
              <a:r>
                <a:rPr b="1" lang="en-GB" sz="1800">
                  <a:solidFill>
                    <a:schemeClr val="dk1"/>
                  </a:solidFill>
                </a:rPr>
                <a:t>from the surrounding context</a:t>
              </a:r>
              <a:r>
                <a:rPr lang="en-GB" sz="1800">
                  <a:solidFill>
                    <a:schemeClr val="dk1"/>
                  </a:solidFill>
                </a:rPr>
                <a:t>, using </a:t>
              </a:r>
              <a:r>
                <a:rPr b="1" lang="en-GB" sz="1800">
                  <a:solidFill>
                    <a:schemeClr val="dk1"/>
                  </a:solidFill>
                </a:rPr>
                <a:t>weighted averages of neighboring</a:t>
              </a:r>
              <a:r>
                <a:rPr lang="en-GB" sz="1800">
                  <a:solidFill>
                    <a:schemeClr val="dk1"/>
                  </a:solidFill>
                </a:rPr>
                <a:t> </a:t>
              </a:r>
              <a:r>
                <a:rPr b="1" lang="en-GB" sz="1800">
                  <a:solidFill>
                    <a:schemeClr val="dk1"/>
                  </a:solidFill>
                </a:rPr>
                <a:t>embeddings</a:t>
              </a:r>
              <a:r>
                <a:rPr lang="en-GB" sz="1800">
                  <a:solidFill>
                    <a:schemeClr val="dk1"/>
                  </a:solidFill>
                </a:rPr>
                <a:t>.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341" name="Google Shape;341;p37"/>
            <p:cNvSpPr/>
            <p:nvPr/>
          </p:nvSpPr>
          <p:spPr>
            <a:xfrm>
              <a:off x="892609" y="4258575"/>
              <a:ext cx="174900" cy="3099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7"/>
            <p:cNvSpPr/>
            <p:nvPr/>
          </p:nvSpPr>
          <p:spPr>
            <a:xfrm>
              <a:off x="6533409" y="4258575"/>
              <a:ext cx="174900" cy="3099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3" name="Google Shape;343;p37"/>
          <p:cNvGrpSpPr/>
          <p:nvPr/>
        </p:nvGrpSpPr>
        <p:grpSpPr>
          <a:xfrm>
            <a:off x="2114712" y="480325"/>
            <a:ext cx="5008861" cy="3245749"/>
            <a:chOff x="2114712" y="480325"/>
            <a:chExt cx="5008861" cy="3245749"/>
          </a:xfrm>
        </p:grpSpPr>
        <p:grpSp>
          <p:nvGrpSpPr>
            <p:cNvPr id="344" name="Google Shape;344;p37"/>
            <p:cNvGrpSpPr/>
            <p:nvPr/>
          </p:nvGrpSpPr>
          <p:grpSpPr>
            <a:xfrm>
              <a:off x="2411864" y="480325"/>
              <a:ext cx="4711708" cy="3245749"/>
              <a:chOff x="2251425" y="480325"/>
              <a:chExt cx="4711708" cy="3245749"/>
            </a:xfrm>
          </p:grpSpPr>
          <p:pic>
            <p:nvPicPr>
              <p:cNvPr id="345" name="Google Shape;345;p37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251425" y="480325"/>
                <a:ext cx="4711708" cy="32457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6" name="Google Shape;346;p37"/>
              <p:cNvSpPr/>
              <p:nvPr/>
            </p:nvSpPr>
            <p:spPr>
              <a:xfrm>
                <a:off x="2267324" y="504175"/>
                <a:ext cx="1068653" cy="188600"/>
              </a:xfrm>
              <a:prstGeom prst="rect">
                <a:avLst/>
              </a:prstGeom>
            </p:spPr>
            <p:txBody>
              <a:bodyPr>
                <a:prstTxWarp prst="textPlain"/>
              </a:bodyPr>
              <a:lstStyle/>
              <a:p>
                <a:pPr lvl="0" algn="ctr"/>
                <a:r>
                  <a:rPr b="0" i="0">
                    <a:ln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solidFill>
                      <a:schemeClr val="lt2"/>
                    </a:solidFill>
                    <a:latin typeface="Arial"/>
                  </a:rPr>
                  <a:t>3Blue1Brown</a:t>
                </a:r>
              </a:p>
            </p:txBody>
          </p:sp>
        </p:grpSp>
        <p:sp>
          <p:nvSpPr>
            <p:cNvPr id="347" name="Google Shape;347;p37"/>
            <p:cNvSpPr txBox="1"/>
            <p:nvPr/>
          </p:nvSpPr>
          <p:spPr>
            <a:xfrm rot="-1679">
              <a:off x="2114712" y="1523895"/>
              <a:ext cx="24573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0000"/>
                  </a:solidFill>
                </a:rPr>
                <a:t>Arc thickness </a:t>
              </a:r>
              <a:endParaRPr sz="1000">
                <a:solidFill>
                  <a:srgbClr val="FF0000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0000"/>
                  </a:solidFill>
                </a:rPr>
                <a:t>encodes attention level </a:t>
              </a:r>
              <a:endParaRPr sz="1000">
                <a:solidFill>
                  <a:srgbClr val="FF0000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0000"/>
                  </a:solidFill>
                </a:rPr>
                <a:t>between tokens</a:t>
              </a:r>
              <a:endParaRPr sz="1000">
                <a:solidFill>
                  <a:srgbClr val="FF0000"/>
                </a:solidFill>
              </a:endParaRPr>
            </a:p>
          </p:txBody>
        </p:sp>
        <p:cxnSp>
          <p:nvCxnSpPr>
            <p:cNvPr id="348" name="Google Shape;348;p37"/>
            <p:cNvCxnSpPr/>
            <p:nvPr/>
          </p:nvCxnSpPr>
          <p:spPr>
            <a:xfrm flipH="1" rot="10800000">
              <a:off x="3778800" y="1706700"/>
              <a:ext cx="954300" cy="78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8"/>
          <p:cNvSpPr txBox="1"/>
          <p:nvPr/>
        </p:nvSpPr>
        <p:spPr>
          <a:xfrm>
            <a:off x="2459096" y="0"/>
            <a:ext cx="3959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Navigating the Semantic Space via Attention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5" name="Google Shape;355;p38"/>
          <p:cNvSpPr txBox="1"/>
          <p:nvPr/>
        </p:nvSpPr>
        <p:spPr>
          <a:xfrm>
            <a:off x="632850" y="4191975"/>
            <a:ext cx="7878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The embedding of the word “King” </a:t>
            </a:r>
            <a:r>
              <a:rPr b="1" lang="en-GB" sz="1200">
                <a:solidFill>
                  <a:schemeClr val="dk1"/>
                </a:solidFill>
              </a:rPr>
              <a:t>absorbs</a:t>
            </a:r>
            <a:r>
              <a:rPr lang="en-GB" sz="1200">
                <a:solidFill>
                  <a:schemeClr val="dk1"/>
                </a:solidFill>
              </a:rPr>
              <a:t> </a:t>
            </a:r>
            <a:r>
              <a:rPr b="1" lang="en-GB" sz="1200">
                <a:solidFill>
                  <a:schemeClr val="dk1"/>
                </a:solidFill>
              </a:rPr>
              <a:t>via attention</a:t>
            </a:r>
            <a:r>
              <a:rPr lang="en-GB" sz="1200">
                <a:solidFill>
                  <a:schemeClr val="dk1"/>
                </a:solidFill>
              </a:rPr>
              <a:t> the </a:t>
            </a:r>
            <a:r>
              <a:rPr b="1" lang="en-GB" sz="1200">
                <a:solidFill>
                  <a:schemeClr val="dk1"/>
                </a:solidFill>
              </a:rPr>
              <a:t>embeddings from the other words</a:t>
            </a:r>
            <a:r>
              <a:rPr lang="en-GB" sz="1200">
                <a:solidFill>
                  <a:schemeClr val="dk1"/>
                </a:solidFill>
              </a:rPr>
              <a:t> in </a:t>
            </a:r>
            <a:r>
              <a:rPr lang="en-GB" sz="1200">
                <a:solidFill>
                  <a:schemeClr val="dk1"/>
                </a:solidFill>
              </a:rPr>
              <a:t>Shakespeare's</a:t>
            </a:r>
            <a:r>
              <a:rPr lang="en-GB" sz="1200">
                <a:solidFill>
                  <a:schemeClr val="dk1"/>
                </a:solidFill>
              </a:rPr>
              <a:t> work, </a:t>
            </a:r>
            <a:r>
              <a:rPr b="1" lang="en-GB" sz="1200">
                <a:solidFill>
                  <a:schemeClr val="dk1"/>
                </a:solidFill>
              </a:rPr>
              <a:t>as well as of the questions and statements that the users make </a:t>
            </a:r>
            <a:r>
              <a:rPr lang="en-GB" sz="1200">
                <a:solidFill>
                  <a:schemeClr val="dk1"/>
                </a:solidFill>
              </a:rPr>
              <a:t>in their conversation with the Transformer model.</a:t>
            </a:r>
            <a:endParaRPr sz="1200">
              <a:solidFill>
                <a:schemeClr val="dk1"/>
              </a:solidFill>
            </a:endParaRPr>
          </a:p>
        </p:txBody>
      </p:sp>
      <p:grpSp>
        <p:nvGrpSpPr>
          <p:cNvPr id="356" name="Google Shape;356;p38"/>
          <p:cNvGrpSpPr/>
          <p:nvPr/>
        </p:nvGrpSpPr>
        <p:grpSpPr>
          <a:xfrm>
            <a:off x="1701162" y="607225"/>
            <a:ext cx="5892027" cy="3400225"/>
            <a:chOff x="1701162" y="607225"/>
            <a:chExt cx="5892027" cy="3400225"/>
          </a:xfrm>
        </p:grpSpPr>
        <p:pic>
          <p:nvPicPr>
            <p:cNvPr id="357" name="Google Shape;35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01162" y="607225"/>
              <a:ext cx="5892027" cy="3400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38"/>
            <p:cNvSpPr/>
            <p:nvPr/>
          </p:nvSpPr>
          <p:spPr>
            <a:xfrm>
              <a:off x="1726499" y="3787051"/>
              <a:ext cx="1068653" cy="18860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chemeClr val="lt2"/>
                  </a:solidFill>
                  <a:latin typeface="Arial"/>
                </a:rPr>
                <a:t>3Blue1Brown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"/>
          <p:cNvSpPr txBox="1"/>
          <p:nvPr/>
        </p:nvSpPr>
        <p:spPr>
          <a:xfrm>
            <a:off x="2739900" y="0"/>
            <a:ext cx="3670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Computation Phase / Feed-Forward MLP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9"/>
          <p:cNvSpPr txBox="1"/>
          <p:nvPr/>
        </p:nvSpPr>
        <p:spPr>
          <a:xfrm>
            <a:off x="304875" y="568300"/>
            <a:ext cx="8239500" cy="14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the communication between tokens is finished, an MLP has to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“think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</a:rPr>
              <a:t>on what was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said”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during the self-attention phase.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basically means that </a:t>
            </a:r>
            <a:r>
              <a:rPr b="1" i="0" lang="en-GB" sz="1400" u="none" cap="none" strike="noStrike">
                <a:solidFill>
                  <a:srgbClr val="000000"/>
                </a:solidFill>
              </a:rPr>
              <a:t>new features are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</a:rPr>
              <a:t>derived </a:t>
            </a:r>
            <a:r>
              <a:rPr lang="en-GB"/>
              <a:t>after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communication phase </a:t>
            </a:r>
            <a:r>
              <a:rPr b="1" i="0" lang="en-GB" sz="1400" u="none" cap="none" strike="noStrike">
                <a:solidFill>
                  <a:srgbClr val="000000"/>
                </a:solidFill>
              </a:rPr>
              <a:t>using a database of facts</a:t>
            </a:r>
            <a:r>
              <a:rPr lang="en-GB"/>
              <a:t> encoded by the MLP.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-GB"/>
              <a:t>Skip connections</a:t>
            </a:r>
            <a:r>
              <a:rPr lang="en-GB"/>
              <a:t> can be viewed as </a:t>
            </a:r>
            <a:r>
              <a:rPr b="1" lang="en-GB"/>
              <a:t>enriching</a:t>
            </a:r>
            <a:r>
              <a:rPr lang="en-GB"/>
              <a:t> </a:t>
            </a:r>
            <a:r>
              <a:rPr b="1" lang="en-GB"/>
              <a:t>the embedding</a:t>
            </a:r>
            <a:r>
              <a:rPr lang="en-GB"/>
              <a:t>, but also helping the learning process from a technical perspective.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-GB"/>
              <a:t>Normalization</a:t>
            </a:r>
            <a:r>
              <a:rPr lang="en-GB"/>
              <a:t> is also very important for </a:t>
            </a:r>
            <a:r>
              <a:rPr b="1" lang="en-GB"/>
              <a:t>stabilizing learning</a:t>
            </a:r>
            <a:r>
              <a:rPr lang="en-GB"/>
              <a:t> and fostering convergence.</a:t>
            </a:r>
            <a:endParaRPr/>
          </a:p>
        </p:txBody>
      </p:sp>
      <p:sp>
        <p:nvSpPr>
          <p:cNvPr id="365" name="Google Shape;36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66" name="Google Shape;36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3613" y="3091150"/>
            <a:ext cx="2087175" cy="137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125" y="2950438"/>
            <a:ext cx="3146944" cy="15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9"/>
          <p:cNvSpPr/>
          <p:nvPr/>
        </p:nvSpPr>
        <p:spPr>
          <a:xfrm rot="10800000">
            <a:off x="4004975" y="3654400"/>
            <a:ext cx="1701900" cy="288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9"/>
          <p:cNvSpPr txBox="1"/>
          <p:nvPr/>
        </p:nvSpPr>
        <p:spPr>
          <a:xfrm>
            <a:off x="4162301" y="3120375"/>
            <a:ext cx="14940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Let’s fast forward back to what we</a:t>
            </a:r>
            <a:r>
              <a:rPr lang="en-GB" sz="1100">
                <a:solidFill>
                  <a:schemeClr val="dk2"/>
                </a:solidFill>
              </a:rPr>
              <a:t> ha</a:t>
            </a:r>
            <a:r>
              <a:rPr b="0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  already seen, </a:t>
            </a:r>
            <a:r>
              <a:rPr b="1" i="0" lang="en-GB" sz="1100" u="none" cap="none" strike="noStrike">
                <a:solidFill>
                  <a:srgbClr val="FF0000"/>
                </a:solidFill>
              </a:rPr>
              <a:t>and notice! the additional skip connection.</a:t>
            </a:r>
            <a:endParaRPr b="1" i="0" sz="1100" u="none" cap="none" strike="noStrike">
              <a:solidFill>
                <a:srgbClr val="FF0000"/>
              </a:solidFill>
            </a:endParaRPr>
          </a:p>
        </p:txBody>
      </p:sp>
      <p:sp>
        <p:nvSpPr>
          <p:cNvPr id="370" name="Google Shape;370;p39"/>
          <p:cNvSpPr/>
          <p:nvPr/>
        </p:nvSpPr>
        <p:spPr>
          <a:xfrm>
            <a:off x="1032925" y="2691949"/>
            <a:ext cx="2682600" cy="422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gradFill>
            <a:gsLst>
              <a:gs pos="0">
                <a:srgbClr val="F48108"/>
              </a:gs>
              <a:gs pos="100000">
                <a:srgbClr val="703D0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9"/>
          <p:cNvSpPr/>
          <p:nvPr/>
        </p:nvSpPr>
        <p:spPr>
          <a:xfrm>
            <a:off x="3497675" y="3159550"/>
            <a:ext cx="233700" cy="2337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F48108"/>
              </a:gs>
              <a:gs pos="100000">
                <a:srgbClr val="703D08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/>
        </p:nvSpPr>
        <p:spPr>
          <a:xfrm>
            <a:off x="3405150" y="0"/>
            <a:ext cx="2186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MLP Database of Facts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78" name="Google Shape;378;p40"/>
          <p:cNvGrpSpPr/>
          <p:nvPr/>
        </p:nvGrpSpPr>
        <p:grpSpPr>
          <a:xfrm>
            <a:off x="304800" y="561550"/>
            <a:ext cx="8167660" cy="4323117"/>
            <a:chOff x="488175" y="567150"/>
            <a:chExt cx="8167660" cy="4323117"/>
          </a:xfrm>
        </p:grpSpPr>
        <p:pic>
          <p:nvPicPr>
            <p:cNvPr id="379" name="Google Shape;37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8175" y="567150"/>
              <a:ext cx="8167660" cy="43231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40"/>
            <p:cNvSpPr/>
            <p:nvPr/>
          </p:nvSpPr>
          <p:spPr>
            <a:xfrm>
              <a:off x="5623125" y="1754250"/>
              <a:ext cx="381600" cy="7710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504073" y="4685776"/>
              <a:ext cx="1068653" cy="18860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chemeClr val="lt2"/>
                  </a:solidFill>
                  <a:latin typeface="Arial"/>
                </a:rPr>
                <a:t>3Blue1Brown</a:t>
              </a:r>
            </a:p>
          </p:txBody>
        </p:sp>
        <p:sp>
          <p:nvSpPr>
            <p:cNvPr id="382" name="Google Shape;382;p40"/>
            <p:cNvSpPr txBox="1"/>
            <p:nvPr/>
          </p:nvSpPr>
          <p:spPr>
            <a:xfrm>
              <a:off x="4812250" y="2708225"/>
              <a:ext cx="3776100" cy="13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800">
                  <a:solidFill>
                    <a:srgbClr val="FF0000"/>
                  </a:solidFill>
                </a:rPr>
                <a:t>Note that we can correct the output “2” and “1” to be “1” and “0” for convenience, using the so called “Bias” term, and the “ReLU” / “GeLU” non-linearity.</a:t>
              </a:r>
              <a:endParaRPr i="1" sz="18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 txBox="1"/>
          <p:nvPr/>
        </p:nvSpPr>
        <p:spPr>
          <a:xfrm>
            <a:off x="3317677" y="0"/>
            <a:ext cx="29256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MLP Database of Facts, Layer 2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89" name="Google Shape;389;p41"/>
          <p:cNvGrpSpPr/>
          <p:nvPr/>
        </p:nvGrpSpPr>
        <p:grpSpPr>
          <a:xfrm>
            <a:off x="551959" y="460475"/>
            <a:ext cx="7920500" cy="4415999"/>
            <a:chOff x="548534" y="495625"/>
            <a:chExt cx="7920500" cy="4415999"/>
          </a:xfrm>
        </p:grpSpPr>
        <p:pic>
          <p:nvPicPr>
            <p:cNvPr id="390" name="Google Shape;39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8534" y="495625"/>
              <a:ext cx="7862743" cy="4415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41"/>
            <p:cNvSpPr/>
            <p:nvPr/>
          </p:nvSpPr>
          <p:spPr>
            <a:xfrm>
              <a:off x="3578684" y="4314075"/>
              <a:ext cx="548700" cy="1908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1"/>
            <p:cNvSpPr/>
            <p:nvPr/>
          </p:nvSpPr>
          <p:spPr>
            <a:xfrm>
              <a:off x="4700958" y="4306125"/>
              <a:ext cx="548700" cy="3936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1"/>
            <p:cNvSpPr/>
            <p:nvPr/>
          </p:nvSpPr>
          <p:spPr>
            <a:xfrm>
              <a:off x="679725" y="3011650"/>
              <a:ext cx="2325300" cy="18111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1"/>
            <p:cNvSpPr/>
            <p:nvPr/>
          </p:nvSpPr>
          <p:spPr>
            <a:xfrm>
              <a:off x="6370409" y="1221625"/>
              <a:ext cx="254400" cy="1827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1"/>
            <p:cNvSpPr txBox="1"/>
            <p:nvPr/>
          </p:nvSpPr>
          <p:spPr>
            <a:xfrm>
              <a:off x="6938734" y="3058125"/>
              <a:ext cx="1530300" cy="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600">
                  <a:solidFill>
                    <a:srgbClr val="FF0000"/>
                  </a:solidFill>
                </a:rPr>
                <a:t>n</a:t>
              </a:r>
              <a:r>
                <a:rPr baseline="-25000" i="1" lang="en-GB" sz="1600">
                  <a:solidFill>
                    <a:srgbClr val="FF0000"/>
                  </a:solidFill>
                </a:rPr>
                <a:t>0</a:t>
              </a:r>
              <a:r>
                <a:rPr i="1" lang="en-GB" sz="1600">
                  <a:solidFill>
                    <a:srgbClr val="FF0000"/>
                  </a:solidFill>
                </a:rPr>
                <a:t> = 1 is like a flag being set when “Michael Jordan” is the input.</a:t>
              </a:r>
              <a:endParaRPr i="1" sz="1600">
                <a:solidFill>
                  <a:srgbClr val="FF0000"/>
                </a:solidFill>
              </a:endParaRPr>
            </a:p>
          </p:txBody>
        </p:sp>
        <p:sp>
          <p:nvSpPr>
            <p:cNvPr id="396" name="Google Shape;396;p41"/>
            <p:cNvSpPr txBox="1"/>
            <p:nvPr/>
          </p:nvSpPr>
          <p:spPr>
            <a:xfrm>
              <a:off x="877134" y="1102375"/>
              <a:ext cx="1693200" cy="16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500">
                  <a:solidFill>
                    <a:srgbClr val="FF0000"/>
                  </a:solidFill>
                </a:rPr>
                <a:t>C</a:t>
              </a:r>
              <a:r>
                <a:rPr baseline="-25000" i="1" lang="en-GB" sz="1500">
                  <a:solidFill>
                    <a:srgbClr val="FF0000"/>
                  </a:solidFill>
                </a:rPr>
                <a:t>0 </a:t>
              </a:r>
              <a:r>
                <a:rPr i="1" lang="en-GB" sz="1500">
                  <a:solidFill>
                    <a:srgbClr val="FF0000"/>
                  </a:solidFill>
                </a:rPr>
                <a:t>might encode facts like: “Basketball” as a separate dimension in the space below</a:t>
              </a:r>
              <a:endParaRPr i="1" sz="1500">
                <a:solidFill>
                  <a:srgbClr val="FF0000"/>
                </a:solidFill>
              </a:endParaRPr>
            </a:p>
          </p:txBody>
        </p:sp>
        <p:cxnSp>
          <p:nvCxnSpPr>
            <p:cNvPr id="397" name="Google Shape;397;p41"/>
            <p:cNvCxnSpPr/>
            <p:nvPr/>
          </p:nvCxnSpPr>
          <p:spPr>
            <a:xfrm flipH="1" rot="10800000">
              <a:off x="1799309" y="3558975"/>
              <a:ext cx="477000" cy="4212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98" name="Google Shape;398;p41"/>
            <p:cNvSpPr/>
            <p:nvPr/>
          </p:nvSpPr>
          <p:spPr>
            <a:xfrm>
              <a:off x="2143103" y="2781075"/>
              <a:ext cx="75600" cy="555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1"/>
            <p:cNvSpPr txBox="1"/>
            <p:nvPr/>
          </p:nvSpPr>
          <p:spPr>
            <a:xfrm>
              <a:off x="1759559" y="3296626"/>
              <a:ext cx="842700" cy="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000">
                  <a:solidFill>
                    <a:srgbClr val="FF0000"/>
                  </a:solidFill>
                </a:rPr>
                <a:t>Basketball</a:t>
              </a:r>
              <a:endParaRPr i="1" sz="1000">
                <a:solidFill>
                  <a:srgbClr val="FF0000"/>
                </a:solidFill>
              </a:endParaRPr>
            </a:p>
          </p:txBody>
        </p:sp>
        <p:cxnSp>
          <p:nvCxnSpPr>
            <p:cNvPr id="400" name="Google Shape;400;p41"/>
            <p:cNvCxnSpPr>
              <a:endCxn id="394" idx="2"/>
            </p:cNvCxnSpPr>
            <p:nvPr/>
          </p:nvCxnSpPr>
          <p:spPr>
            <a:xfrm rot="10800000">
              <a:off x="6497609" y="1404325"/>
              <a:ext cx="627900" cy="1812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1" name="Google Shape;401;p41"/>
            <p:cNvSpPr/>
            <p:nvPr/>
          </p:nvSpPr>
          <p:spPr>
            <a:xfrm>
              <a:off x="7315200" y="519475"/>
              <a:ext cx="1068653" cy="18860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chemeClr val="lt2"/>
                  </a:solidFill>
                  <a:latin typeface="Arial"/>
                </a:rPr>
                <a:t>3Blue1Brown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"/>
          <p:cNvSpPr txBox="1"/>
          <p:nvPr/>
        </p:nvSpPr>
        <p:spPr>
          <a:xfrm>
            <a:off x="2411425" y="0"/>
            <a:ext cx="42849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“Grandmother cells” analogy in Neuroscience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8" name="Google Shape;408;p42"/>
          <p:cNvSpPr txBox="1"/>
          <p:nvPr/>
        </p:nvSpPr>
        <p:spPr>
          <a:xfrm>
            <a:off x="699700" y="3874813"/>
            <a:ext cx="15840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nature.com/news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9" name="Google Shape;409;p42"/>
          <p:cNvSpPr txBox="1"/>
          <p:nvPr/>
        </p:nvSpPr>
        <p:spPr>
          <a:xfrm>
            <a:off x="3665650" y="3874813"/>
            <a:ext cx="4963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“</a:t>
            </a:r>
            <a:r>
              <a:rPr b="1" lang="en-GB" sz="1100">
                <a:solidFill>
                  <a:schemeClr val="dk1"/>
                </a:solidFill>
              </a:rPr>
              <a:t>Invariant visual representation by single neurons in the human brain</a:t>
            </a:r>
            <a:r>
              <a:rPr lang="en-GB" sz="1100">
                <a:solidFill>
                  <a:schemeClr val="dk1"/>
                </a:solidFill>
              </a:rPr>
              <a:t>”    R. Quian Quiroga et al., Nature 2005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10" name="Google Shape;410;p42"/>
          <p:cNvSpPr txBox="1"/>
          <p:nvPr/>
        </p:nvSpPr>
        <p:spPr>
          <a:xfrm>
            <a:off x="784950" y="4454175"/>
            <a:ext cx="753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/>
              <a:t>“</a:t>
            </a:r>
            <a:r>
              <a:rPr i="1" lang="en-GB" sz="1200"/>
              <a:t>This unit was selectively activated by pictures of the actress Halle Berry as well as by a drawing of her” “Notably, the unit was selectively activated by the letter string ‘Halle Berry’ ”</a:t>
            </a:r>
            <a:endParaRPr i="1" sz="1200"/>
          </a:p>
        </p:txBody>
      </p:sp>
      <p:grpSp>
        <p:nvGrpSpPr>
          <p:cNvPr id="411" name="Google Shape;411;p42"/>
          <p:cNvGrpSpPr/>
          <p:nvPr/>
        </p:nvGrpSpPr>
        <p:grpSpPr>
          <a:xfrm>
            <a:off x="135725" y="422700"/>
            <a:ext cx="3307851" cy="3342851"/>
            <a:chOff x="135725" y="422700"/>
            <a:chExt cx="3307851" cy="3342851"/>
          </a:xfrm>
        </p:grpSpPr>
        <p:pic>
          <p:nvPicPr>
            <p:cNvPr id="412" name="Google Shape;41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2400" y="422700"/>
              <a:ext cx="3291176" cy="334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42"/>
            <p:cNvSpPr txBox="1"/>
            <p:nvPr/>
          </p:nvSpPr>
          <p:spPr>
            <a:xfrm>
              <a:off x="135725" y="1197775"/>
              <a:ext cx="1894200" cy="5247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</a:endParaRPr>
            </a:p>
          </p:txBody>
        </p:sp>
      </p:grpSp>
      <p:pic>
        <p:nvPicPr>
          <p:cNvPr id="414" name="Google Shape;414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0150" y="477338"/>
            <a:ext cx="5125120" cy="334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3"/>
          <p:cNvSpPr txBox="1"/>
          <p:nvPr/>
        </p:nvSpPr>
        <p:spPr>
          <a:xfrm>
            <a:off x="3884400" y="5"/>
            <a:ext cx="1550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Superposition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3"/>
          <p:cNvSpPr txBox="1"/>
          <p:nvPr/>
        </p:nvSpPr>
        <p:spPr>
          <a:xfrm>
            <a:off x="4968775" y="447050"/>
            <a:ext cx="3802500" cy="11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A much more usual scenario is that an </a:t>
            </a:r>
            <a:r>
              <a:rPr b="1" lang="en-GB" sz="1500">
                <a:solidFill>
                  <a:schemeClr val="dk1"/>
                </a:solidFill>
              </a:rPr>
              <a:t>ensemble of neurons encodes a concept</a:t>
            </a:r>
            <a:r>
              <a:rPr lang="en-GB" sz="1500">
                <a:solidFill>
                  <a:schemeClr val="dk1"/>
                </a:solidFill>
              </a:rPr>
              <a:t>, rather than a single “grandmother cell”. This leads to the principle of </a:t>
            </a:r>
            <a:r>
              <a:rPr b="1" lang="en-GB" sz="1500">
                <a:solidFill>
                  <a:schemeClr val="dk1"/>
                </a:solidFill>
              </a:rPr>
              <a:t>superposition</a:t>
            </a:r>
            <a:r>
              <a:rPr lang="en-GB" sz="1500">
                <a:solidFill>
                  <a:schemeClr val="dk1"/>
                </a:solidFill>
              </a:rPr>
              <a:t>, in which a lot of the </a:t>
            </a:r>
            <a:r>
              <a:rPr b="1" lang="en-GB" sz="1500">
                <a:solidFill>
                  <a:schemeClr val="dk1"/>
                </a:solidFill>
              </a:rPr>
              <a:t>same neurons will be involved in encoding several concepts</a:t>
            </a:r>
            <a:r>
              <a:rPr lang="en-GB" sz="1500">
                <a:solidFill>
                  <a:schemeClr val="dk1"/>
                </a:solidFill>
              </a:rPr>
              <a:t>. It’s a </a:t>
            </a:r>
            <a:r>
              <a:rPr b="1" lang="en-GB" sz="1500">
                <a:solidFill>
                  <a:schemeClr val="dk1"/>
                </a:solidFill>
              </a:rPr>
              <a:t>combinatorics game for semantics</a:t>
            </a:r>
            <a:r>
              <a:rPr lang="en-GB" sz="1500">
                <a:solidFill>
                  <a:schemeClr val="dk1"/>
                </a:solidFill>
              </a:rPr>
              <a:t> that becomes </a:t>
            </a:r>
            <a:r>
              <a:rPr b="1" lang="en-GB" sz="1500">
                <a:solidFill>
                  <a:schemeClr val="dk1"/>
                </a:solidFill>
              </a:rPr>
              <a:t>very expressive when we have very high dimensional spaces</a:t>
            </a:r>
            <a:r>
              <a:rPr lang="en-GB" sz="1500">
                <a:solidFill>
                  <a:schemeClr val="dk1"/>
                </a:solidFill>
              </a:rPr>
              <a:t> like the 12</a:t>
            </a:r>
            <a:r>
              <a:rPr i="1" lang="en-GB" sz="1500">
                <a:solidFill>
                  <a:schemeClr val="dk1"/>
                </a:solidFill>
              </a:rPr>
              <a:t>,</a:t>
            </a:r>
            <a:r>
              <a:rPr lang="en-GB" sz="1500">
                <a:solidFill>
                  <a:schemeClr val="dk1"/>
                </a:solidFill>
              </a:rPr>
              <a:t>288 embedding size in the case of GPT-3 175B (Davinci) for example.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21" name="Google Shape;42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22" name="Google Shape;422;p43"/>
          <p:cNvGrpSpPr/>
          <p:nvPr/>
        </p:nvGrpSpPr>
        <p:grpSpPr>
          <a:xfrm>
            <a:off x="313975" y="568212"/>
            <a:ext cx="4576000" cy="4120375"/>
            <a:chOff x="313975" y="568212"/>
            <a:chExt cx="4576000" cy="4120375"/>
          </a:xfrm>
        </p:grpSpPr>
        <p:pic>
          <p:nvPicPr>
            <p:cNvPr id="423" name="Google Shape;42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3975" y="568212"/>
              <a:ext cx="4576000" cy="4120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4" name="Google Shape;424;p43"/>
            <p:cNvSpPr txBox="1"/>
            <p:nvPr/>
          </p:nvSpPr>
          <p:spPr>
            <a:xfrm>
              <a:off x="2935550" y="928613"/>
              <a:ext cx="1659600" cy="8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500">
                  <a:solidFill>
                    <a:srgbClr val="FF0000"/>
                  </a:solidFill>
                </a:rPr>
                <a:t>An ensemble of neurons encode a single concept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425" name="Google Shape;425;p43"/>
            <p:cNvSpPr/>
            <p:nvPr/>
          </p:nvSpPr>
          <p:spPr>
            <a:xfrm>
              <a:off x="375674" y="621993"/>
              <a:ext cx="1068653" cy="18860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chemeClr val="lt2"/>
                  </a:solidFill>
                  <a:latin typeface="Arial"/>
                </a:rPr>
                <a:t>3Blue1Brown</a:t>
              </a:r>
            </a:p>
          </p:txBody>
        </p:sp>
        <p:sp>
          <p:nvSpPr>
            <p:cNvPr id="426" name="Google Shape;426;p43"/>
            <p:cNvSpPr txBox="1"/>
            <p:nvPr/>
          </p:nvSpPr>
          <p:spPr>
            <a:xfrm>
              <a:off x="2826200" y="3088813"/>
              <a:ext cx="19440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FF0000"/>
                  </a:solidFill>
                </a:rPr>
                <a:t>Hence, same neurons can be involved in encoding different concepts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grpSp>
        <p:nvGrpSpPr>
          <p:cNvPr id="427" name="Google Shape;427;p43"/>
          <p:cNvGrpSpPr/>
          <p:nvPr/>
        </p:nvGrpSpPr>
        <p:grpSpPr>
          <a:xfrm>
            <a:off x="5719162" y="3308238"/>
            <a:ext cx="2897700" cy="1722000"/>
            <a:chOff x="6002800" y="3308950"/>
            <a:chExt cx="2897700" cy="1722000"/>
          </a:xfrm>
        </p:grpSpPr>
        <p:cxnSp>
          <p:nvCxnSpPr>
            <p:cNvPr id="428" name="Google Shape;428;p43"/>
            <p:cNvCxnSpPr/>
            <p:nvPr/>
          </p:nvCxnSpPr>
          <p:spPr>
            <a:xfrm flipH="1" rot="10800000">
              <a:off x="6871162" y="3637268"/>
              <a:ext cx="521400" cy="54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29" name="Google Shape;429;p43"/>
            <p:cNvCxnSpPr/>
            <p:nvPr/>
          </p:nvCxnSpPr>
          <p:spPr>
            <a:xfrm flipH="1" rot="10800000">
              <a:off x="6871125" y="4152855"/>
              <a:ext cx="735000" cy="3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0" name="Google Shape;430;p43"/>
            <p:cNvCxnSpPr/>
            <p:nvPr/>
          </p:nvCxnSpPr>
          <p:spPr>
            <a:xfrm flipH="1" rot="10800000">
              <a:off x="6871275" y="3423705"/>
              <a:ext cx="5700" cy="763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1" name="Google Shape;431;p43"/>
            <p:cNvCxnSpPr/>
            <p:nvPr/>
          </p:nvCxnSpPr>
          <p:spPr>
            <a:xfrm rot="10800000">
              <a:off x="6361388" y="3637268"/>
              <a:ext cx="510000" cy="54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2" name="Google Shape;432;p43"/>
            <p:cNvCxnSpPr/>
            <p:nvPr/>
          </p:nvCxnSpPr>
          <p:spPr>
            <a:xfrm>
              <a:off x="6871162" y="4186942"/>
              <a:ext cx="521400" cy="48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3" name="Google Shape;433;p43"/>
            <p:cNvCxnSpPr/>
            <p:nvPr/>
          </p:nvCxnSpPr>
          <p:spPr>
            <a:xfrm>
              <a:off x="6876975" y="4186605"/>
              <a:ext cx="0" cy="69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4" name="Google Shape;434;p43"/>
            <p:cNvCxnSpPr/>
            <p:nvPr/>
          </p:nvCxnSpPr>
          <p:spPr>
            <a:xfrm flipH="1">
              <a:off x="6361388" y="4186942"/>
              <a:ext cx="515700" cy="48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5" name="Google Shape;435;p43"/>
            <p:cNvCxnSpPr/>
            <p:nvPr/>
          </p:nvCxnSpPr>
          <p:spPr>
            <a:xfrm rot="10800000">
              <a:off x="6147825" y="4152855"/>
              <a:ext cx="723300" cy="3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6" name="Google Shape;436;p43"/>
            <p:cNvSpPr txBox="1"/>
            <p:nvPr/>
          </p:nvSpPr>
          <p:spPr>
            <a:xfrm>
              <a:off x="6076275" y="4098405"/>
              <a:ext cx="866400" cy="1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1"/>
                  </a:solidFill>
                </a:rPr>
                <a:t>Concept 1</a:t>
              </a:r>
              <a:endParaRPr sz="900">
                <a:solidFill>
                  <a:schemeClr val="dk1"/>
                </a:solidFill>
              </a:endParaRPr>
            </a:p>
          </p:txBody>
        </p:sp>
        <p:sp>
          <p:nvSpPr>
            <p:cNvPr id="437" name="Google Shape;437;p43"/>
            <p:cNvSpPr txBox="1"/>
            <p:nvPr/>
          </p:nvSpPr>
          <p:spPr>
            <a:xfrm>
              <a:off x="7176825" y="4098255"/>
              <a:ext cx="866400" cy="1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chemeClr val="dk1"/>
                  </a:solidFill>
                </a:rPr>
                <a:t>Concept </a:t>
              </a:r>
              <a:r>
                <a:rPr b="1" lang="en-GB" sz="900">
                  <a:solidFill>
                    <a:schemeClr val="dk1"/>
                  </a:solidFill>
                </a:rPr>
                <a:t>exp</a:t>
              </a:r>
              <a:r>
                <a:rPr lang="en-GB" sz="900">
                  <a:solidFill>
                    <a:schemeClr val="dk1"/>
                  </a:solidFill>
                </a:rPr>
                <a:t>(</a:t>
              </a:r>
              <a:r>
                <a:rPr b="1" lang="en-GB" sz="900">
                  <a:solidFill>
                    <a:schemeClr val="dk1"/>
                  </a:solidFill>
                </a:rPr>
                <a:t>εᐧN</a:t>
              </a:r>
              <a:r>
                <a:rPr lang="en-GB" sz="900">
                  <a:solidFill>
                    <a:schemeClr val="dk1"/>
                  </a:solidFill>
                </a:rPr>
                <a:t>)</a:t>
              </a:r>
              <a:endParaRPr sz="900">
                <a:solidFill>
                  <a:schemeClr val="dk1"/>
                </a:solidFill>
              </a:endParaRPr>
            </a:p>
          </p:txBody>
        </p:sp>
        <p:cxnSp>
          <p:nvCxnSpPr>
            <p:cNvPr id="438" name="Google Shape;438;p43"/>
            <p:cNvCxnSpPr/>
            <p:nvPr/>
          </p:nvCxnSpPr>
          <p:spPr>
            <a:xfrm>
              <a:off x="6871162" y="4186868"/>
              <a:ext cx="373800" cy="19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9" name="Google Shape;439;p43"/>
            <p:cNvCxnSpPr/>
            <p:nvPr/>
          </p:nvCxnSpPr>
          <p:spPr>
            <a:xfrm rot="10800000">
              <a:off x="6561087" y="3972093"/>
              <a:ext cx="315900" cy="21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40" name="Google Shape;440;p43"/>
            <p:cNvSpPr/>
            <p:nvPr/>
          </p:nvSpPr>
          <p:spPr>
            <a:xfrm>
              <a:off x="6002800" y="3308950"/>
              <a:ext cx="1768800" cy="1722000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3"/>
            <p:cNvSpPr txBox="1"/>
            <p:nvPr/>
          </p:nvSpPr>
          <p:spPr>
            <a:xfrm>
              <a:off x="7771600" y="3972100"/>
              <a:ext cx="1128900" cy="34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0000"/>
                  </a:solidFill>
                </a:rPr>
                <a:t>N-dimensions</a:t>
              </a:r>
              <a:endParaRPr b="1" sz="11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4"/>
          <p:cNvSpPr txBox="1"/>
          <p:nvPr/>
        </p:nvSpPr>
        <p:spPr>
          <a:xfrm>
            <a:off x="3589525" y="0"/>
            <a:ext cx="1938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Positional encoding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7" name="Google Shape;44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450" y="922175"/>
            <a:ext cx="3958975" cy="8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4"/>
          <p:cNvSpPr txBox="1"/>
          <p:nvPr/>
        </p:nvSpPr>
        <p:spPr>
          <a:xfrm>
            <a:off x="5232625" y="922175"/>
            <a:ext cx="3720000" cy="25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transformer treats the tokens as a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Bag of Words (BoW)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need to give each token a label that specifies its position in the form of a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counter ID</a:t>
            </a:r>
            <a:r>
              <a:rPr i="0" lang="en-GB" sz="1400" u="none" cap="none" strike="noStrike">
                <a:solidFill>
                  <a:srgbClr val="000000"/>
                </a:solidFill>
              </a:rPr>
              <a:t>,</a:t>
            </a:r>
            <a:r>
              <a:rPr lang="en-GB"/>
              <a:t> for instance.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GB"/>
              <a:t>’s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/>
              <a:t>noteworthy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the positional encoding information is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literally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added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a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“+”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operation.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4"/>
          <p:cNvSpPr txBox="1"/>
          <p:nvPr/>
        </p:nvSpPr>
        <p:spPr>
          <a:xfrm>
            <a:off x="480450" y="3959950"/>
            <a:ext cx="8183100" cy="8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various encoding schemes out there, such as </a:t>
            </a:r>
            <a:r>
              <a:rPr b="1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absolute encoding</a:t>
            </a:r>
            <a:r>
              <a:rPr i="1" lang="en-GB"/>
              <a:t> or</a:t>
            </a:r>
            <a:r>
              <a:rPr b="0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relative encoding </a:t>
            </a:r>
            <a:r>
              <a:rPr i="1" lang="en-GB" sz="1400" u="none" cap="none" strike="noStrike">
                <a:solidFill>
                  <a:srgbClr val="000000"/>
                </a:solidFill>
              </a:rPr>
              <a:t>for example</a:t>
            </a:r>
            <a:r>
              <a:rPr i="1" lang="en-GB"/>
              <a:t>. These seemingly small details can</a:t>
            </a:r>
            <a:r>
              <a:rPr b="0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have a significant impact on how the transformer </a:t>
            </a:r>
            <a:r>
              <a:rPr i="1" lang="en-GB"/>
              <a:t>e</a:t>
            </a:r>
            <a:r>
              <a:rPr b="0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nds up performing. Check out the Swin Transformer paper for</a:t>
            </a:r>
            <a:r>
              <a:rPr i="1" lang="en-GB"/>
              <a:t> some empirical evidence</a:t>
            </a:r>
            <a:r>
              <a:rPr b="0" i="1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51" name="Google Shape;45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225" y="2081525"/>
            <a:ext cx="4633725" cy="130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 txBox="1"/>
          <p:nvPr/>
        </p:nvSpPr>
        <p:spPr>
          <a:xfrm>
            <a:off x="2411425" y="0"/>
            <a:ext cx="4848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GPT-3 Tensors and the overall Number of Parameters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8" name="Google Shape;458;p45"/>
          <p:cNvSpPr/>
          <p:nvPr/>
        </p:nvSpPr>
        <p:spPr>
          <a:xfrm>
            <a:off x="431874" y="756001"/>
            <a:ext cx="1068653" cy="1886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3Blue1Brown</a:t>
            </a:r>
          </a:p>
        </p:txBody>
      </p:sp>
      <p:pic>
        <p:nvPicPr>
          <p:cNvPr id="459" name="Google Shape;45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70" y="976400"/>
            <a:ext cx="7862400" cy="398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6"/>
          <p:cNvSpPr txBox="1"/>
          <p:nvPr/>
        </p:nvSpPr>
        <p:spPr>
          <a:xfrm>
            <a:off x="3601700" y="0"/>
            <a:ext cx="1781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ChatGPT Pipeline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6"/>
          <p:cNvSpPr txBox="1"/>
          <p:nvPr/>
        </p:nvSpPr>
        <p:spPr>
          <a:xfrm>
            <a:off x="123287" y="555550"/>
            <a:ext cx="7935000" cy="1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R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Pretraining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model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R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Fine-Tuning (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SFT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R"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Modeling /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RM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arenR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Reinforcement Learning /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RL 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GB"/>
              <a:t>with human in the loop / human feedback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-GB"/>
              <a:t>Additional </a:t>
            </a:r>
            <a:r>
              <a:rPr b="1" lang="en-GB"/>
              <a:t>Chain-of-Thought (CoT) </a:t>
            </a:r>
            <a:r>
              <a:rPr lang="en-GB"/>
              <a:t>Reinforcement Learning.</a:t>
            </a:r>
            <a:endParaRPr/>
          </a:p>
        </p:txBody>
      </p:sp>
      <p:sp>
        <p:nvSpPr>
          <p:cNvPr id="466" name="Google Shape;466;p46"/>
          <p:cNvSpPr txBox="1"/>
          <p:nvPr/>
        </p:nvSpPr>
        <p:spPr>
          <a:xfrm>
            <a:off x="161647" y="4350525"/>
            <a:ext cx="8776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n-GB">
                <a:solidFill>
                  <a:schemeClr val="dk1"/>
                </a:solidFill>
              </a:rPr>
              <a:t>Conjecture: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ChatGPT works so well, because it borrowed many insights from the AlphaZero games playing engine from back in 2016. </a:t>
            </a:r>
            <a:r>
              <a:rPr b="0" i="1" lang="en-GB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Words </a:t>
            </a:r>
            <a:r>
              <a:rPr i="1" lang="en-GB" u="sng">
                <a:solidFill>
                  <a:schemeClr val="dk1"/>
                </a:solidFill>
              </a:rPr>
              <a:t>seem to be </a:t>
            </a:r>
            <a:r>
              <a:rPr b="0" i="1" lang="en-GB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new chess pieces that have to be smartly arranged.</a:t>
            </a:r>
            <a:endParaRPr b="0" i="1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68" name="Google Shape;468;p46"/>
          <p:cNvGrpSpPr/>
          <p:nvPr/>
        </p:nvGrpSpPr>
        <p:grpSpPr>
          <a:xfrm>
            <a:off x="293013" y="2298600"/>
            <a:ext cx="8285225" cy="2010300"/>
            <a:chOff x="349625" y="2704400"/>
            <a:chExt cx="8285225" cy="2010300"/>
          </a:xfrm>
        </p:grpSpPr>
        <p:pic>
          <p:nvPicPr>
            <p:cNvPr id="469" name="Google Shape;469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9626" y="2714988"/>
              <a:ext cx="3212601" cy="19891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0" name="Google Shape;470;p46"/>
            <p:cNvGrpSpPr/>
            <p:nvPr/>
          </p:nvGrpSpPr>
          <p:grpSpPr>
            <a:xfrm>
              <a:off x="349625" y="2704400"/>
              <a:ext cx="8285225" cy="2010300"/>
              <a:chOff x="424525" y="2900600"/>
              <a:chExt cx="8285225" cy="2010300"/>
            </a:xfrm>
          </p:grpSpPr>
          <p:sp>
            <p:nvSpPr>
              <p:cNvPr id="471" name="Google Shape;471;p46"/>
              <p:cNvSpPr txBox="1"/>
              <p:nvPr/>
            </p:nvSpPr>
            <p:spPr>
              <a:xfrm>
                <a:off x="4240350" y="3513850"/>
                <a:ext cx="4469400" cy="67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DeepMind subsequently created </a:t>
                </a:r>
                <a:r>
                  <a:rPr b="1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AlphaStar</a:t>
                </a: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1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AlphaFold, AlphaEvolve</a:t>
                </a: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using similar principles.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46"/>
              <p:cNvSpPr/>
              <p:nvPr/>
            </p:nvSpPr>
            <p:spPr>
              <a:xfrm>
                <a:off x="3638976" y="3705101"/>
                <a:ext cx="548700" cy="2883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46"/>
              <p:cNvSpPr/>
              <p:nvPr/>
            </p:nvSpPr>
            <p:spPr>
              <a:xfrm>
                <a:off x="424525" y="2900600"/>
                <a:ext cx="3216300" cy="2010300"/>
              </a:xfrm>
              <a:prstGeom prst="rect">
                <a:avLst/>
              </a:prstGeom>
              <a:noFill/>
              <a:ln cap="flat" cmpd="sng" w="381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highlight>
                    <a:srgbClr val="FF0000"/>
                  </a:highlight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7"/>
          <p:cNvSpPr txBox="1"/>
          <p:nvPr/>
        </p:nvSpPr>
        <p:spPr>
          <a:xfrm>
            <a:off x="3111150" y="0"/>
            <a:ext cx="3198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Pretraining the Foundational Model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7"/>
          <p:cNvSpPr txBox="1"/>
          <p:nvPr/>
        </p:nvSpPr>
        <p:spPr>
          <a:xfrm>
            <a:off x="304925" y="499463"/>
            <a:ext cx="7800300" cy="18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data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train a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Model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dataset is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huge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=&gt; potentially low quality in some places, but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very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quantity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400" u="none" cap="none" strike="noStrike">
                <a:solidFill>
                  <a:srgbClr val="000000"/>
                </a:solidFill>
              </a:rPr>
              <a:t>(</a:t>
            </a:r>
            <a:r>
              <a:rPr lang="en-GB"/>
              <a:t>e</a:t>
            </a:r>
            <a:r>
              <a:rPr i="0" lang="en-GB" sz="1400" u="none" cap="none" strike="noStrike">
                <a:solidFill>
                  <a:srgbClr val="000000"/>
                </a:solidFill>
              </a:rPr>
              <a:t>x: </a:t>
            </a:r>
            <a:r>
              <a:rPr lang="en-GB"/>
              <a:t>from roughly 1 to </a:t>
            </a:r>
            <a:r>
              <a:rPr i="0" lang="en-GB" sz="1400" u="none" cap="none" strike="noStrike">
                <a:solidFill>
                  <a:srgbClr val="000000"/>
                </a:solidFill>
              </a:rPr>
              <a:t>45 </a:t>
            </a:r>
            <a:r>
              <a:rPr lang="en-GB"/>
              <a:t>TB / Terabytes of text, and beyond!</a:t>
            </a:r>
            <a:r>
              <a:rPr i="0" lang="en-GB" sz="1400" u="none" cap="none" strike="noStrike">
                <a:solidFill>
                  <a:srgbClr val="000000"/>
                </a:solidFill>
              </a:rPr>
              <a:t>).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obtain a </a:t>
            </a:r>
            <a:r>
              <a:rPr b="1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document completer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end, i.e. a very well informed </a:t>
            </a:r>
            <a:r>
              <a:rPr lang="en-GB"/>
              <a:t>“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auto-complete</a:t>
            </a:r>
            <a:r>
              <a:rPr lang="en-GB"/>
              <a:t>”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Thousands of GPUs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work in parallel (ex: 1000-2000 A100 GPUs).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1" name="Google Shape;48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200" y="2461725"/>
            <a:ext cx="4360200" cy="2274576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7"/>
          <p:cNvSpPr txBox="1"/>
          <p:nvPr/>
        </p:nvSpPr>
        <p:spPr>
          <a:xfrm>
            <a:off x="368063" y="4736312"/>
            <a:ext cx="81327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https://www.fz-juelich.de/en/ias/jsc/systems/supercomputers/</a:t>
            </a:r>
            <a:r>
              <a:rPr b="1" lang="en-GB">
                <a:solidFill>
                  <a:schemeClr val="dk1"/>
                </a:solidFill>
              </a:rPr>
              <a:t>apply-for-computing-time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83" name="Google Shape;483;p47"/>
          <p:cNvSpPr txBox="1"/>
          <p:nvPr/>
        </p:nvSpPr>
        <p:spPr>
          <a:xfrm>
            <a:off x="5340325" y="3391800"/>
            <a:ext cx="3000000" cy="5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Germany's fastest supercomputer </a:t>
            </a:r>
            <a:r>
              <a:rPr b="1"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JUWELS</a:t>
            </a:r>
            <a:r>
              <a:rPr b="1"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at Forschungszentrum Jülich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8"/>
          <p:cNvSpPr txBox="1"/>
          <p:nvPr/>
        </p:nvSpPr>
        <p:spPr>
          <a:xfrm>
            <a:off x="3165925" y="0"/>
            <a:ext cx="3268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Supervised Fine Tuning (SFT stage)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8"/>
          <p:cNvSpPr txBox="1"/>
          <p:nvPr/>
        </p:nvSpPr>
        <p:spPr>
          <a:xfrm>
            <a:off x="96600" y="796550"/>
            <a:ext cx="8950800" cy="20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quantity, but very high quality data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~ 100K (prompt, response) tuples.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Specialists / Contractors have to scrutinize the dataset so that close to ideal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(prompt, response) tuples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assembled.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Less GPUs are required than in step 1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(ex: 1-100)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outcome is the so-called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SFT model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1" name="Google Shape;491;p48"/>
          <p:cNvSpPr txBox="1"/>
          <p:nvPr/>
        </p:nvSpPr>
        <p:spPr>
          <a:xfrm>
            <a:off x="1809625" y="4739425"/>
            <a:ext cx="5124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[The figure sub-components were generated using the OpenAI diffusion model]</a:t>
            </a:r>
            <a:endParaRPr i="1" sz="1100">
              <a:solidFill>
                <a:schemeClr val="dk1"/>
              </a:solidFill>
            </a:endParaRPr>
          </a:p>
        </p:txBody>
      </p:sp>
      <p:grpSp>
        <p:nvGrpSpPr>
          <p:cNvPr id="492" name="Google Shape;492;p48"/>
          <p:cNvGrpSpPr/>
          <p:nvPr/>
        </p:nvGrpSpPr>
        <p:grpSpPr>
          <a:xfrm>
            <a:off x="1513440" y="2808655"/>
            <a:ext cx="5811658" cy="1891025"/>
            <a:chOff x="1457792" y="2808655"/>
            <a:chExt cx="5811658" cy="1891025"/>
          </a:xfrm>
        </p:grpSpPr>
        <p:pic>
          <p:nvPicPr>
            <p:cNvPr id="493" name="Google Shape;493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03925" y="2809875"/>
              <a:ext cx="1165525" cy="933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22662" y="4151781"/>
              <a:ext cx="749075" cy="547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31763" y="3183904"/>
              <a:ext cx="336700" cy="3094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4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86213" y="2939375"/>
              <a:ext cx="336711" cy="325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4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1457792" y="2808655"/>
              <a:ext cx="1165525" cy="935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48"/>
            <p:cNvSpPr/>
            <p:nvPr/>
          </p:nvSpPr>
          <p:spPr>
            <a:xfrm>
              <a:off x="4181099" y="3607725"/>
              <a:ext cx="184500" cy="3936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8"/>
            <p:cNvSpPr/>
            <p:nvPr/>
          </p:nvSpPr>
          <p:spPr>
            <a:xfrm>
              <a:off x="2935038" y="3106300"/>
              <a:ext cx="644100" cy="206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8"/>
            <p:cNvSpPr/>
            <p:nvPr/>
          </p:nvSpPr>
          <p:spPr>
            <a:xfrm rot="10800000">
              <a:off x="4991375" y="3106288"/>
              <a:ext cx="644100" cy="206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9"/>
          <p:cNvSpPr txBox="1"/>
          <p:nvPr/>
        </p:nvSpPr>
        <p:spPr>
          <a:xfrm>
            <a:off x="3522997" y="4"/>
            <a:ext cx="1759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 Modeling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9"/>
          <p:cNvSpPr txBox="1"/>
          <p:nvPr/>
        </p:nvSpPr>
        <p:spPr>
          <a:xfrm>
            <a:off x="132122" y="714729"/>
            <a:ext cx="7616100" cy="23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the SFT model to produce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answers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prompt.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human contractors to carefully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 these answers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a reward model on these rankings.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lang="en-GB"/>
              <a:t>Requires on the o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rder of 1 to 100 GPUs for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outcome is the so-called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 Model / RM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=&gt; </a:t>
            </a:r>
            <a:r>
              <a:rPr b="1" i="0" lang="en-GB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Evaluates token trajectories.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508" name="Google Shape;508;p49"/>
          <p:cNvGraphicFramePr/>
          <p:nvPr/>
        </p:nvGraphicFramePr>
        <p:xfrm>
          <a:off x="273451" y="35932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{B57EED98-0011-4329-B594-DEB074AC8677}</a:tableStyleId>
              </a:tblPr>
              <a:tblGrid>
                <a:gridCol w="833600"/>
                <a:gridCol w="833600"/>
                <a:gridCol w="833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2</a:t>
                      </a:r>
                      <a:r>
                        <a:rPr lang="en-GB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2</a:t>
                      </a:r>
                      <a:r>
                        <a:rPr lang="en-GB" sz="11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2</a:t>
                      </a:r>
                      <a:r>
                        <a:rPr lang="en-GB" sz="1100" u="none" cap="none" strike="noStrike"/>
                        <a:t>3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9" name="Google Shape;509;p49"/>
          <p:cNvGraphicFramePr/>
          <p:nvPr/>
        </p:nvGraphicFramePr>
        <p:xfrm>
          <a:off x="2781990" y="35932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{B57EED98-0011-4329-B594-DEB074AC8677}</a:tableStyleId>
              </a:tblPr>
              <a:tblGrid>
                <a:gridCol w="833600"/>
                <a:gridCol w="833600"/>
                <a:gridCol w="833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2</a:t>
                      </a:r>
                      <a:r>
                        <a:rPr lang="en-GB" sz="11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2</a:t>
                      </a:r>
                      <a:r>
                        <a:rPr lang="en-GB" sz="1100" u="none" cap="none" strike="noStrike"/>
                        <a:t>5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Reward 2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0" name="Google Shape;510;p49"/>
          <p:cNvGraphicFramePr/>
          <p:nvPr/>
        </p:nvGraphicFramePr>
        <p:xfrm>
          <a:off x="273451" y="4126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{B57EED98-0011-4329-B594-DEB074AC8677}</a:tableStyleId>
              </a:tblPr>
              <a:tblGrid>
                <a:gridCol w="833600"/>
                <a:gridCol w="833600"/>
                <a:gridCol w="833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3</a:t>
                      </a:r>
                      <a:r>
                        <a:rPr lang="en-GB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3</a:t>
                      </a:r>
                      <a:r>
                        <a:rPr lang="en-GB" sz="11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3</a:t>
                      </a:r>
                      <a:r>
                        <a:rPr lang="en-GB" sz="1100" u="none" cap="none" strike="noStrike"/>
                        <a:t>3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1" name="Google Shape;511;p49"/>
          <p:cNvGraphicFramePr/>
          <p:nvPr/>
        </p:nvGraphicFramePr>
        <p:xfrm>
          <a:off x="2781990" y="4126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{B57EED98-0011-4329-B594-DEB074AC8677}</a:tableStyleId>
              </a:tblPr>
              <a:tblGrid>
                <a:gridCol w="833600"/>
                <a:gridCol w="833600"/>
                <a:gridCol w="833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3</a:t>
                      </a:r>
                      <a:r>
                        <a:rPr lang="en-GB" sz="11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3</a:t>
                      </a:r>
                      <a:r>
                        <a:rPr lang="en-GB" sz="1100" u="none" cap="none" strike="noStrike"/>
                        <a:t>5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3</a:t>
                      </a:r>
                      <a:r>
                        <a:rPr lang="en-GB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2" name="Google Shape;512;p49"/>
          <p:cNvGraphicFramePr/>
          <p:nvPr/>
        </p:nvGraphicFramePr>
        <p:xfrm>
          <a:off x="5290551" y="4126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{B57EED98-0011-4329-B594-DEB074AC8677}</a:tableStyleId>
              </a:tblPr>
              <a:tblGrid>
                <a:gridCol w="833600"/>
                <a:gridCol w="833600"/>
                <a:gridCol w="833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3</a:t>
                      </a:r>
                      <a:r>
                        <a:rPr lang="en-GB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3</a:t>
                      </a:r>
                      <a:r>
                        <a:rPr lang="en-GB" sz="1100" u="none" cap="none" strike="noStrike"/>
                        <a:t>8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Reward 3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3" name="Google Shape;513;p49"/>
          <p:cNvGraphicFramePr/>
          <p:nvPr/>
        </p:nvGraphicFramePr>
        <p:xfrm>
          <a:off x="281190" y="30598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{B57EED98-0011-4329-B594-DEB074AC8677}</a:tableStyleId>
              </a:tblPr>
              <a:tblGrid>
                <a:gridCol w="833600"/>
                <a:gridCol w="833600"/>
                <a:gridCol w="833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1</a:t>
                      </a:r>
                      <a:r>
                        <a:rPr lang="en-GB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Token </a:t>
                      </a:r>
                      <a:r>
                        <a:rPr lang="en-GB" sz="1100"/>
                        <a:t>1</a:t>
                      </a:r>
                      <a:r>
                        <a:rPr lang="en-GB" sz="11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/>
                        <a:t>Reward 1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514" name="Google Shape;514;p49"/>
          <p:cNvSpPr txBox="1"/>
          <p:nvPr/>
        </p:nvSpPr>
        <p:spPr>
          <a:xfrm>
            <a:off x="2724228" y="3066375"/>
            <a:ext cx="2686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Token trajectory 1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9"/>
          <p:cNvSpPr txBox="1"/>
          <p:nvPr/>
        </p:nvSpPr>
        <p:spPr>
          <a:xfrm>
            <a:off x="5222327" y="3587102"/>
            <a:ext cx="2686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Token trajectory 2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9"/>
          <p:cNvSpPr txBox="1"/>
          <p:nvPr/>
        </p:nvSpPr>
        <p:spPr>
          <a:xfrm>
            <a:off x="7748222" y="4127048"/>
            <a:ext cx="2686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Token trajectory 3</a:t>
            </a:r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0"/>
          <p:cNvSpPr txBox="1"/>
          <p:nvPr/>
        </p:nvSpPr>
        <p:spPr>
          <a:xfrm>
            <a:off x="3466575" y="0"/>
            <a:ext cx="27927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RLHF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Reinforcement Learning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50"/>
          <p:cNvSpPr txBox="1"/>
          <p:nvPr/>
        </p:nvSpPr>
        <p:spPr>
          <a:xfrm>
            <a:off x="313725" y="967525"/>
            <a:ext cx="8565300" cy="23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a </a:t>
            </a:r>
            <a:r>
              <a:rPr b="1" lang="en-GB">
                <a:solidFill>
                  <a:schemeClr val="dk1"/>
                </a:solidFill>
              </a:rPr>
              <a:t>Proximal Policy Optimization (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PPO)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algorithm.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previously trained reward model to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the reward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PPO will have the task of generating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“trajectories”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will have a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very good overall score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lang="en-GB"/>
              <a:t>Requires on the o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rder of 1 to 100 GPUs for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outcome is the so called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RLHF </a:t>
            </a:r>
            <a:r>
              <a:rPr b="1" lang="en-GB"/>
              <a:t>model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(reinforcement learning with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 feedback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4" name="Google Shape;52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668" y="3429993"/>
            <a:ext cx="2759774" cy="12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725" y="3400777"/>
            <a:ext cx="3755126" cy="12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1"/>
          <p:cNvSpPr txBox="1"/>
          <p:nvPr/>
        </p:nvSpPr>
        <p:spPr>
          <a:xfrm>
            <a:off x="3291700" y="0"/>
            <a:ext cx="3205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Chain-Of-Thought Reasoning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51"/>
          <p:cNvSpPr txBox="1"/>
          <p:nvPr/>
        </p:nvSpPr>
        <p:spPr>
          <a:xfrm>
            <a:off x="217300" y="475025"/>
            <a:ext cx="8697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To generate the recent </a:t>
            </a:r>
            <a:r>
              <a:rPr b="1" lang="en-GB" sz="1800">
                <a:solidFill>
                  <a:schemeClr val="dk1"/>
                </a:solidFill>
              </a:rPr>
              <a:t>chain-of-thought</a:t>
            </a:r>
            <a:r>
              <a:rPr lang="en-GB" sz="1800">
                <a:solidFill>
                  <a:schemeClr val="dk1"/>
                </a:solidFill>
              </a:rPr>
              <a:t> reasoning systems, we need </a:t>
            </a:r>
            <a:r>
              <a:rPr b="1" lang="en-GB" sz="1800">
                <a:solidFill>
                  <a:schemeClr val="dk1"/>
                </a:solidFill>
              </a:rPr>
              <a:t>even more Reinforcement Learning</a:t>
            </a:r>
            <a:r>
              <a:rPr lang="en-GB" sz="1800">
                <a:solidFill>
                  <a:schemeClr val="dk1"/>
                </a:solidFill>
              </a:rPr>
              <a:t>, i.e. something more and </a:t>
            </a:r>
            <a:r>
              <a:rPr b="1" lang="en-GB" sz="1800">
                <a:solidFill>
                  <a:schemeClr val="dk1"/>
                </a:solidFill>
              </a:rPr>
              <a:t>different </a:t>
            </a:r>
            <a:r>
              <a:rPr lang="en-GB" sz="1800">
                <a:solidFill>
                  <a:schemeClr val="dk1"/>
                </a:solidFill>
              </a:rPr>
              <a:t>than RLHF.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32" name="Google Shape;532;p51"/>
          <p:cNvSpPr/>
          <p:nvPr/>
        </p:nvSpPr>
        <p:spPr>
          <a:xfrm>
            <a:off x="1023000" y="1452875"/>
            <a:ext cx="2692200" cy="42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</a:t>
            </a:r>
            <a:endParaRPr/>
          </a:p>
        </p:txBody>
      </p:sp>
      <p:sp>
        <p:nvSpPr>
          <p:cNvPr id="533" name="Google Shape;533;p51"/>
          <p:cNvSpPr/>
          <p:nvPr/>
        </p:nvSpPr>
        <p:spPr>
          <a:xfrm>
            <a:off x="1023025" y="4265775"/>
            <a:ext cx="2692200" cy="42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Answer </a:t>
            </a:r>
            <a:r>
              <a:rPr b="1" lang="en-GB"/>
              <a:t>Known </a:t>
            </a:r>
            <a:r>
              <a:rPr lang="en-GB"/>
              <a:t>Apriori</a:t>
            </a:r>
            <a:endParaRPr/>
          </a:p>
        </p:txBody>
      </p:sp>
      <p:cxnSp>
        <p:nvCxnSpPr>
          <p:cNvPr id="534" name="Google Shape;534;p51"/>
          <p:cNvCxnSpPr/>
          <p:nvPr/>
        </p:nvCxnSpPr>
        <p:spPr>
          <a:xfrm flipH="1">
            <a:off x="1107150" y="2570525"/>
            <a:ext cx="7800" cy="139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5" name="Google Shape;535;p51"/>
          <p:cNvCxnSpPr/>
          <p:nvPr/>
        </p:nvCxnSpPr>
        <p:spPr>
          <a:xfrm flipH="1">
            <a:off x="2311338" y="2570525"/>
            <a:ext cx="7800" cy="139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51"/>
          <p:cNvCxnSpPr/>
          <p:nvPr/>
        </p:nvCxnSpPr>
        <p:spPr>
          <a:xfrm flipH="1">
            <a:off x="3293253" y="2570525"/>
            <a:ext cx="7800" cy="139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51"/>
          <p:cNvCxnSpPr/>
          <p:nvPr/>
        </p:nvCxnSpPr>
        <p:spPr>
          <a:xfrm flipH="1">
            <a:off x="1831425" y="2570525"/>
            <a:ext cx="7800" cy="139920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51"/>
          <p:cNvCxnSpPr/>
          <p:nvPr/>
        </p:nvCxnSpPr>
        <p:spPr>
          <a:xfrm flipH="1">
            <a:off x="2791302" y="2570525"/>
            <a:ext cx="7800" cy="139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51"/>
          <p:cNvCxnSpPr/>
          <p:nvPr/>
        </p:nvCxnSpPr>
        <p:spPr>
          <a:xfrm flipH="1">
            <a:off x="1587600" y="2570525"/>
            <a:ext cx="7800" cy="139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51"/>
          <p:cNvCxnSpPr/>
          <p:nvPr/>
        </p:nvCxnSpPr>
        <p:spPr>
          <a:xfrm flipH="1">
            <a:off x="2551326" y="2570525"/>
            <a:ext cx="7800" cy="139920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51"/>
          <p:cNvCxnSpPr/>
          <p:nvPr/>
        </p:nvCxnSpPr>
        <p:spPr>
          <a:xfrm flipH="1">
            <a:off x="3042277" y="2570525"/>
            <a:ext cx="7800" cy="139920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51"/>
          <p:cNvCxnSpPr/>
          <p:nvPr/>
        </p:nvCxnSpPr>
        <p:spPr>
          <a:xfrm flipH="1">
            <a:off x="1351350" y="2570525"/>
            <a:ext cx="7800" cy="139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3" name="Google Shape;543;p51"/>
          <p:cNvCxnSpPr/>
          <p:nvPr/>
        </p:nvCxnSpPr>
        <p:spPr>
          <a:xfrm flipH="1">
            <a:off x="2067300" y="2570525"/>
            <a:ext cx="7800" cy="139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4" name="Google Shape;544;p51"/>
          <p:cNvSpPr/>
          <p:nvPr/>
        </p:nvSpPr>
        <p:spPr>
          <a:xfrm>
            <a:off x="3858250" y="2514825"/>
            <a:ext cx="291000" cy="1502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51"/>
          <p:cNvSpPr txBox="1"/>
          <p:nvPr/>
        </p:nvSpPr>
        <p:spPr>
          <a:xfrm>
            <a:off x="4384050" y="2032025"/>
            <a:ext cx="4029600" cy="23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Model </a:t>
            </a:r>
            <a:r>
              <a:rPr b="1" lang="en-GB">
                <a:solidFill>
                  <a:schemeClr val="dk1"/>
                </a:solidFill>
              </a:rPr>
              <a:t>tries </a:t>
            </a:r>
            <a:r>
              <a:rPr lang="en-GB">
                <a:solidFill>
                  <a:schemeClr val="dk1"/>
                </a:solidFill>
              </a:rPr>
              <a:t>different token trajectories </a:t>
            </a:r>
            <a:r>
              <a:rPr b="1" i="1" lang="en-GB" u="sng">
                <a:solidFill>
                  <a:srgbClr val="FF0000"/>
                </a:solidFill>
              </a:rPr>
              <a:t>on its own</a:t>
            </a:r>
            <a:r>
              <a:rPr lang="en-GB">
                <a:solidFill>
                  <a:srgbClr val="FF0000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stores the ones that lead to the correct answer</a:t>
            </a:r>
            <a:r>
              <a:rPr lang="en-GB">
                <a:solidFill>
                  <a:schemeClr val="dk1"/>
                </a:solidFill>
              </a:rPr>
              <a:t>. Then, it </a:t>
            </a:r>
            <a:r>
              <a:rPr b="1" i="1" lang="en-GB" u="sng">
                <a:solidFill>
                  <a:srgbClr val="FF0000"/>
                </a:solidFill>
              </a:rPr>
              <a:t>trains on the successful token trajectories</a:t>
            </a:r>
            <a:r>
              <a:rPr lang="en-GB">
                <a:solidFill>
                  <a:srgbClr val="FF0000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to improve its reasoning abilities, such that on future problems, it will </a:t>
            </a:r>
            <a:r>
              <a:rPr b="1" lang="en-GB">
                <a:solidFill>
                  <a:schemeClr val="dk1"/>
                </a:solidFill>
              </a:rPr>
              <a:t>prefer more reasonable chains-of-thought, </a:t>
            </a:r>
            <a:r>
              <a:rPr lang="en-GB">
                <a:solidFill>
                  <a:schemeClr val="dk1"/>
                </a:solidFill>
              </a:rPr>
              <a:t>i.e. </a:t>
            </a:r>
            <a:r>
              <a:rPr b="1" lang="en-GB">
                <a:solidFill>
                  <a:schemeClr val="dk1"/>
                </a:solidFill>
              </a:rPr>
              <a:t>more “correct thinking and planning”</a:t>
            </a:r>
            <a:r>
              <a:rPr lang="en-GB">
                <a:solidFill>
                  <a:schemeClr val="dk1"/>
                </a:solidFill>
              </a:rPr>
              <a:t> to solve problems. </a:t>
            </a:r>
            <a:r>
              <a:rPr i="1" lang="en-GB">
                <a:solidFill>
                  <a:schemeClr val="dk1"/>
                </a:solidFill>
              </a:rPr>
              <a:t>One interesting aspect is that training on coding tasks seems to generally improve logic ability </a:t>
            </a:r>
            <a:r>
              <a:rPr i="1" lang="en-GB">
                <a:solidFill>
                  <a:schemeClr val="dk1"/>
                </a:solidFill>
              </a:rPr>
              <a:t>across</a:t>
            </a:r>
            <a:r>
              <a:rPr i="1" lang="en-GB">
                <a:solidFill>
                  <a:schemeClr val="dk1"/>
                </a:solidFill>
              </a:rPr>
              <a:t> other areas such as math and sciences.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546" name="Google Shape;546;p51"/>
          <p:cNvSpPr/>
          <p:nvPr/>
        </p:nvSpPr>
        <p:spPr>
          <a:xfrm rot="5400000">
            <a:off x="2259150" y="998150"/>
            <a:ext cx="188100" cy="2692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51"/>
          <p:cNvSpPr txBox="1"/>
          <p:nvPr/>
        </p:nvSpPr>
        <p:spPr>
          <a:xfrm>
            <a:off x="932125" y="1862975"/>
            <a:ext cx="28884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Many, many, many!</a:t>
            </a:r>
            <a:r>
              <a:rPr lang="en-GB" sz="1800">
                <a:solidFill>
                  <a:schemeClr val="dk1"/>
                </a:solidFill>
              </a:rPr>
              <a:t> times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548" name="Google Shape;548;p51"/>
          <p:cNvCxnSpPr/>
          <p:nvPr/>
        </p:nvCxnSpPr>
        <p:spPr>
          <a:xfrm flipH="1">
            <a:off x="3551890" y="2570525"/>
            <a:ext cx="7800" cy="1399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49" name="Google Shape;54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850" y="3969714"/>
            <a:ext cx="291000" cy="257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9725" y="3989064"/>
            <a:ext cx="291000" cy="257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6575" y="3981114"/>
            <a:ext cx="291000" cy="257361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 txBox="1"/>
          <p:nvPr/>
        </p:nvSpPr>
        <p:spPr>
          <a:xfrm>
            <a:off x="3420650" y="0"/>
            <a:ext cx="2266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Vision Transformer / ViT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2"/>
          <p:cNvSpPr txBox="1"/>
          <p:nvPr/>
        </p:nvSpPr>
        <p:spPr>
          <a:xfrm>
            <a:off x="760350" y="4532075"/>
            <a:ext cx="7623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“An Image is Worth 16x16 Words: Transformers for Image Recognition at Scale” by A. Dosovitskiy et al. (2021)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60" name="Google Shape;56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550" y="752300"/>
            <a:ext cx="7048226" cy="37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3"/>
          <p:cNvSpPr txBox="1"/>
          <p:nvPr/>
        </p:nvSpPr>
        <p:spPr>
          <a:xfrm>
            <a:off x="3221775" y="0"/>
            <a:ext cx="3514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Convolutional Neural Networks (CNNs)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6" name="Google Shape;56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138" y="373500"/>
            <a:ext cx="7310124" cy="24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53"/>
          <p:cNvSpPr txBox="1"/>
          <p:nvPr/>
        </p:nvSpPr>
        <p:spPr>
          <a:xfrm>
            <a:off x="142100" y="2910750"/>
            <a:ext cx="86379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Generally applied in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vision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tasks, </a:t>
            </a:r>
            <a:r>
              <a:rPr lang="en-GB"/>
              <a:t>to extract </a:t>
            </a:r>
            <a:r>
              <a:rPr b="1" lang="en-GB"/>
              <a:t>visual features</a:t>
            </a:r>
            <a:r>
              <a:rPr lang="en-GB"/>
              <a:t> such as horizontal </a:t>
            </a:r>
            <a:r>
              <a:rPr b="1" lang="en-GB"/>
              <a:t>edges</a:t>
            </a:r>
            <a:r>
              <a:rPr lang="en-GB"/>
              <a:t>, vertical edges, edges of different angles, as well as more </a:t>
            </a:r>
            <a:r>
              <a:rPr b="1" lang="en-GB"/>
              <a:t>complex shapes</a:t>
            </a:r>
            <a:r>
              <a:rPr lang="en-GB"/>
              <a:t> like squares, circles,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CNNs are very </a:t>
            </a:r>
            <a:r>
              <a:rPr b="1" i="0" lang="en-GB" sz="1400" u="none" cap="none" strike="noStrike">
                <a:solidFill>
                  <a:srgbClr val="000000"/>
                </a:solidFill>
              </a:rPr>
              <a:t>amenable to </a:t>
            </a:r>
            <a:r>
              <a:rPr b="1" lang="en-GB"/>
              <a:t>parallelism</a:t>
            </a:r>
            <a:r>
              <a:rPr lang="en-GB"/>
              <a:t>, so they don’t slow down the overall Transformer pipeline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-GB"/>
              <a:t>Several Convolutional Layers</a:t>
            </a:r>
            <a:r>
              <a:rPr lang="en-GB"/>
              <a:t> are used </a:t>
            </a:r>
            <a:r>
              <a:rPr b="1" lang="en-GB"/>
              <a:t>at the input</a:t>
            </a:r>
            <a:r>
              <a:rPr lang="en-GB"/>
              <a:t> stage of a vision transformer </a:t>
            </a:r>
            <a:r>
              <a:rPr b="1" lang="en-GB"/>
              <a:t>as an interface</a:t>
            </a:r>
            <a:r>
              <a:rPr lang="en-GB"/>
              <a:t> that converts </a:t>
            </a:r>
            <a:r>
              <a:rPr b="1" lang="en-GB"/>
              <a:t>2D-Maps to 1D-Tokens</a:t>
            </a:r>
            <a:r>
              <a:rPr lang="en-GB"/>
              <a:t>, projecting the task to something very similar to the natural language processing scenario.</a:t>
            </a:r>
            <a:endParaRPr/>
          </a:p>
        </p:txBody>
      </p:sp>
      <p:sp>
        <p:nvSpPr>
          <p:cNvPr id="568" name="Google Shape;56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9" name="Google Shape;569;p53"/>
          <p:cNvSpPr txBox="1"/>
          <p:nvPr/>
        </p:nvSpPr>
        <p:spPr>
          <a:xfrm>
            <a:off x="0" y="4865975"/>
            <a:ext cx="56136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Visualize interactive demo at -&gt; </a:t>
            </a:r>
            <a:r>
              <a:rPr b="1" i="1" lang="en-GB" sz="1100">
                <a:solidFill>
                  <a:schemeClr val="dk1"/>
                </a:solidFill>
              </a:rPr>
              <a:t>https://cs231n.github.io/convolutional-networks</a:t>
            </a:r>
            <a:endParaRPr b="1" i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4"/>
          <p:cNvSpPr txBox="1"/>
          <p:nvPr/>
        </p:nvSpPr>
        <p:spPr>
          <a:xfrm>
            <a:off x="3738500" y="0"/>
            <a:ext cx="1741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Swin Transformer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77675"/>
            <a:ext cx="8839200" cy="2525486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4"/>
          <p:cNvSpPr txBox="1"/>
          <p:nvPr/>
        </p:nvSpPr>
        <p:spPr>
          <a:xfrm>
            <a:off x="1064850" y="3928350"/>
            <a:ext cx="781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“Swin Transformer: Hierarchical Vision Transformer using Shifted Windows” by Liu et al. (2021)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5"/>
          <p:cNvSpPr txBox="1"/>
          <p:nvPr/>
        </p:nvSpPr>
        <p:spPr>
          <a:xfrm>
            <a:off x="3617625" y="0"/>
            <a:ext cx="1824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Audio Transformer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5"/>
          <p:cNvSpPr txBox="1"/>
          <p:nvPr/>
        </p:nvSpPr>
        <p:spPr>
          <a:xfrm>
            <a:off x="319800" y="658025"/>
            <a:ext cx="82995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sound waves can be mapped to a different space using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STFT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(Short-time Fourier Transform).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4" name="Google Shape;58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9025" y="1159900"/>
            <a:ext cx="61341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5"/>
          <p:cNvSpPr txBox="1"/>
          <p:nvPr/>
        </p:nvSpPr>
        <p:spPr>
          <a:xfrm>
            <a:off x="319800" y="4485450"/>
            <a:ext cx="85044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 time series become images =&gt;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adapted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be </a:t>
            </a:r>
            <a:r>
              <a:rPr lang="en-GB"/>
              <a:t>tackled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lang="en-GB"/>
              <a:t>a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ViT / Swin Transformer.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6"/>
          <p:cNvSpPr txBox="1"/>
          <p:nvPr/>
        </p:nvSpPr>
        <p:spPr>
          <a:xfrm>
            <a:off x="3480800" y="0"/>
            <a:ext cx="2826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Series Transformer (TST)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6"/>
          <p:cNvSpPr txBox="1"/>
          <p:nvPr/>
        </p:nvSpPr>
        <p:spPr>
          <a:xfrm>
            <a:off x="73500" y="560300"/>
            <a:ext cx="89970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Continuous data is </a:t>
            </a:r>
            <a:r>
              <a:rPr b="1" lang="en-GB">
                <a:solidFill>
                  <a:schemeClr val="dk1"/>
                </a:solidFill>
              </a:rPr>
              <a:t>sampled </a:t>
            </a:r>
            <a:r>
              <a:rPr lang="en-GB">
                <a:solidFill>
                  <a:schemeClr val="dk1"/>
                </a:solidFill>
              </a:rPr>
              <a:t>and </a:t>
            </a:r>
            <a:r>
              <a:rPr b="1" lang="en-GB">
                <a:solidFill>
                  <a:schemeClr val="dk1"/>
                </a:solidFill>
              </a:rPr>
              <a:t>quantized </a:t>
            </a:r>
            <a:r>
              <a:rPr lang="en-GB">
                <a:solidFill>
                  <a:schemeClr val="dk1"/>
                </a:solidFill>
              </a:rPr>
              <a:t>into discrete tokens.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GB" sz="1400" u="none" cap="none" strike="noStrike">
                <a:solidFill>
                  <a:schemeClr val="dk1"/>
                </a:solidFill>
              </a:rPr>
              <a:t>Implementations available at</a:t>
            </a:r>
            <a:r>
              <a:rPr b="1"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-&gt;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GB" sz="1100">
                <a:solidFill>
                  <a:schemeClr val="dk1"/>
                </a:solidFill>
              </a:rPr>
              <a:t>https://huggingface.co/docs/transformers/model_doc/time_series_transformer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6"/>
          <p:cNvSpPr txBox="1"/>
          <p:nvPr/>
        </p:nvSpPr>
        <p:spPr>
          <a:xfrm>
            <a:off x="791075" y="3325713"/>
            <a:ext cx="739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5" name="Google Shape;595;p56"/>
          <p:cNvSpPr txBox="1"/>
          <p:nvPr/>
        </p:nvSpPr>
        <p:spPr>
          <a:xfrm>
            <a:off x="1601800" y="4751875"/>
            <a:ext cx="605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“Transformers in Time Series: A Survey” paper, by Wen et al. </a:t>
            </a:r>
            <a:r>
              <a:rPr b="1" lang="en-GB">
                <a:solidFill>
                  <a:schemeClr val="dk1"/>
                </a:solidFill>
              </a:rPr>
              <a:t>(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r>
              <a:rPr b="1" lang="en-GB">
                <a:solidFill>
                  <a:schemeClr val="dk1"/>
                </a:solidFill>
              </a:rPr>
              <a:t>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6" name="Google Shape;59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6966" y="1499125"/>
            <a:ext cx="5270055" cy="316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2" name="Google Shape;602;p57"/>
          <p:cNvSpPr txBox="1"/>
          <p:nvPr/>
        </p:nvSpPr>
        <p:spPr>
          <a:xfrm>
            <a:off x="3671475" y="0"/>
            <a:ext cx="2186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/>
              <a:t>Computational Biology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7"/>
          <p:cNvSpPr txBox="1"/>
          <p:nvPr/>
        </p:nvSpPr>
        <p:spPr>
          <a:xfrm>
            <a:off x="1608525" y="3677775"/>
            <a:ext cx="68640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“Highly accurate protein structure prediction with AlphaFold” by John Jumper et al. (Nature, 2021)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604" name="Google Shape;604;p57"/>
          <p:cNvSpPr txBox="1"/>
          <p:nvPr/>
        </p:nvSpPr>
        <p:spPr>
          <a:xfrm>
            <a:off x="257050" y="4067125"/>
            <a:ext cx="83790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b="1" lang="en-GB" sz="1100">
                <a:solidFill>
                  <a:schemeClr val="dk1"/>
                </a:solidFill>
              </a:rPr>
              <a:t>AlphaFold2</a:t>
            </a:r>
            <a:r>
              <a:rPr lang="en-GB" sz="1100">
                <a:solidFill>
                  <a:schemeClr val="dk1"/>
                </a:solidFill>
              </a:rPr>
              <a:t> offers many insights on using </a:t>
            </a:r>
            <a:r>
              <a:rPr b="1" lang="en-GB" sz="1100">
                <a:solidFill>
                  <a:schemeClr val="dk1"/>
                </a:solidFill>
              </a:rPr>
              <a:t>Transformers in </a:t>
            </a:r>
            <a:r>
              <a:rPr lang="en-GB" sz="1100">
                <a:solidFill>
                  <a:schemeClr val="dk1"/>
                </a:solidFill>
              </a:rPr>
              <a:t>relatively </a:t>
            </a:r>
            <a:r>
              <a:rPr b="1" lang="en-GB" sz="1100">
                <a:solidFill>
                  <a:schemeClr val="dk1"/>
                </a:solidFill>
              </a:rPr>
              <a:t>data-scarce regimes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en-GB" sz="1100">
                <a:solidFill>
                  <a:schemeClr val="dk1"/>
                </a:solidFill>
              </a:rPr>
              <a:t>It is also very insightful for cases were you need to </a:t>
            </a:r>
            <a:r>
              <a:rPr b="1" lang="en-GB" sz="1100">
                <a:solidFill>
                  <a:schemeClr val="dk1"/>
                </a:solidFill>
              </a:rPr>
              <a:t>handle 1D, 2D and 3D data formats</a:t>
            </a:r>
            <a:r>
              <a:rPr lang="en-GB" sz="1100">
                <a:solidFill>
                  <a:schemeClr val="dk1"/>
                </a:solidFill>
              </a:rPr>
              <a:t> within a single pipeline.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lang="en-GB" sz="1100">
                <a:solidFill>
                  <a:schemeClr val="dk1"/>
                </a:solidFill>
              </a:rPr>
              <a:t>It’s not just a transformer, it’s a hybrid system in conjunction with a </a:t>
            </a:r>
            <a:r>
              <a:rPr b="1" lang="en-GB" sz="1100">
                <a:solidFill>
                  <a:schemeClr val="dk1"/>
                </a:solidFill>
              </a:rPr>
              <a:t>combination of many subtle training tricks</a:t>
            </a:r>
            <a:r>
              <a:rPr lang="en-GB" sz="1100">
                <a:solidFill>
                  <a:schemeClr val="dk1"/>
                </a:solidFill>
              </a:rPr>
              <a:t> to make protein structure prediction very accurate in the end, acceptable enough for real-world laboratory experiments.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05" name="Google Shape;60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60888"/>
            <a:ext cx="8839204" cy="3016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8"/>
          <p:cNvSpPr txBox="1"/>
          <p:nvPr/>
        </p:nvSpPr>
        <p:spPr>
          <a:xfrm>
            <a:off x="2492300" y="0"/>
            <a:ext cx="4243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example: Self-Attention Snippet Version 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612" name="Google Shape;612;p58"/>
          <p:cNvGrpSpPr/>
          <p:nvPr/>
        </p:nvGrpSpPr>
        <p:grpSpPr>
          <a:xfrm>
            <a:off x="649550" y="794400"/>
            <a:ext cx="3499350" cy="3859500"/>
            <a:chOff x="518600" y="636300"/>
            <a:chExt cx="3499350" cy="3859500"/>
          </a:xfrm>
        </p:grpSpPr>
        <p:sp>
          <p:nvSpPr>
            <p:cNvPr id="613" name="Google Shape;613;p58"/>
            <p:cNvSpPr txBox="1"/>
            <p:nvPr/>
          </p:nvSpPr>
          <p:spPr>
            <a:xfrm>
              <a:off x="562250" y="847500"/>
              <a:ext cx="3455700" cy="34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6A9955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Version 1: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6A9955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We want x[b,t] = mean_{i&lt;=t} x[b,i]</a:t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zeros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((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C586C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for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C586C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range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):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</a:t>
              </a:r>
              <a:r>
                <a:rPr b="0" i="0" lang="en-GB" sz="1050" u="none" cap="none" strike="noStrike">
                  <a:solidFill>
                    <a:srgbClr val="C586C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for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C586C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range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):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xprev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,: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+</a:t>
              </a:r>
              <a:r>
                <a:rPr b="0" i="0" lang="en-GB" sz="1050" u="none" cap="none" strike="noStrike">
                  <a:solidFill>
                    <a:srgbClr val="B5CEA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 </a:t>
              </a:r>
              <a:r>
                <a:rPr b="0" i="0" lang="en-GB" sz="1050" u="none" cap="none" strike="noStrike">
                  <a:solidFill>
                    <a:srgbClr val="6A9955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(t,C)</a:t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mean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xprev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en-GB" sz="1050" u="none" cap="none" strike="noStrike">
                  <a:solidFill>
                    <a:srgbClr val="B5CEA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0" i="0" lang="en-GB" sz="1050" u="none" cap="none" strike="noStrike">
                  <a:solidFill>
                    <a:srgbClr val="B5CEA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0" i="0" lang="en-GB" sz="1050" u="none" cap="none" strike="noStrike">
                  <a:solidFill>
                    <a:srgbClr val="B5CEA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14" name="Google Shape;614;p58"/>
            <p:cNvSpPr/>
            <p:nvPr/>
          </p:nvSpPr>
          <p:spPr>
            <a:xfrm>
              <a:off x="518600" y="636300"/>
              <a:ext cx="3310200" cy="38595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5" name="Google Shape;615;p58"/>
          <p:cNvGrpSpPr/>
          <p:nvPr/>
        </p:nvGrpSpPr>
        <p:grpSpPr>
          <a:xfrm>
            <a:off x="5167375" y="794400"/>
            <a:ext cx="3433875" cy="3859500"/>
            <a:chOff x="4607200" y="642000"/>
            <a:chExt cx="3433875" cy="3859500"/>
          </a:xfrm>
        </p:grpSpPr>
        <p:sp>
          <p:nvSpPr>
            <p:cNvPr id="616" name="Google Shape;616;p58"/>
            <p:cNvSpPr txBox="1"/>
            <p:nvPr/>
          </p:nvSpPr>
          <p:spPr>
            <a:xfrm>
              <a:off x="4818175" y="647700"/>
              <a:ext cx="322290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torch.Size([4, 8, 2])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tensor([[ 1.9269,  1.4873],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[ 0.9007, -2.1055],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[ 0.6784, -1.2345],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[-0.0431, -1.6047],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[-0.7521,  1.6487],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[-0.3925, -1.4036],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[-0.7279, -0.5594],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[-0.7688,  0.7624]])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tensor([[ 1.9269,  1.4873],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[ 1.4138, -0.3091],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[ 1.1687, -0.6176],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[ 0.8657, -0.8644],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[ 0.5422, -0.3617],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[ 0.3864, -0.5354],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[ 0.2272, -0.5388],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[ 0.1027, -0.3762]])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8"/>
            <p:cNvSpPr/>
            <p:nvPr/>
          </p:nvSpPr>
          <p:spPr>
            <a:xfrm>
              <a:off x="4607200" y="642000"/>
              <a:ext cx="2961000" cy="3859500"/>
            </a:xfrm>
            <a:prstGeom prst="rect">
              <a:avLst/>
            </a:prstGeom>
            <a:noFill/>
            <a:ln cap="flat" cmpd="sng" w="38100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8" name="Google Shape;618;p58"/>
          <p:cNvSpPr/>
          <p:nvPr/>
        </p:nvSpPr>
        <p:spPr>
          <a:xfrm>
            <a:off x="4304300" y="2724150"/>
            <a:ext cx="4620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24" name="Google Shape;624;p59"/>
          <p:cNvSpPr txBox="1"/>
          <p:nvPr/>
        </p:nvSpPr>
        <p:spPr>
          <a:xfrm>
            <a:off x="2341250" y="0"/>
            <a:ext cx="42597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example: Self-Attention Snippet Version 2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5" name="Google Shape;625;p59"/>
          <p:cNvGrpSpPr/>
          <p:nvPr/>
        </p:nvGrpSpPr>
        <p:grpSpPr>
          <a:xfrm>
            <a:off x="420975" y="642025"/>
            <a:ext cx="3922420" cy="4284817"/>
            <a:chOff x="518602" y="636301"/>
            <a:chExt cx="3499348" cy="3859500"/>
          </a:xfrm>
        </p:grpSpPr>
        <p:sp>
          <p:nvSpPr>
            <p:cNvPr id="626" name="Google Shape;626;p59"/>
            <p:cNvSpPr txBox="1"/>
            <p:nvPr/>
          </p:nvSpPr>
          <p:spPr>
            <a:xfrm>
              <a:off x="562250" y="847500"/>
              <a:ext cx="3455700" cy="34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6A9955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Version 1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6A9955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We want x[b,t] = mean_{i&lt;=t} x[b,i]</a:t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zeros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((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C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C586C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for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C586C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range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):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</a:t>
              </a:r>
              <a:r>
                <a:rPr b="0" i="0" lang="en-GB" sz="1050" u="none" cap="none" strike="noStrike">
                  <a:solidFill>
                    <a:srgbClr val="C586C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for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C586C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in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range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):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xprev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,: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+</a:t>
              </a:r>
              <a:r>
                <a:rPr b="0" i="0" lang="en-GB" sz="1050" u="none" cap="none" strike="noStrike">
                  <a:solidFill>
                    <a:srgbClr val="B5CEA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 </a:t>
              </a:r>
              <a:r>
                <a:rPr b="0" i="0" lang="en-GB" sz="1050" u="none" cap="none" strike="noStrike">
                  <a:solidFill>
                    <a:srgbClr val="6A9955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(t,C)</a:t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mean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xprev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en-GB" sz="1050" u="none" cap="none" strike="noStrike">
                  <a:solidFill>
                    <a:srgbClr val="B5CEA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0" i="0" lang="en-GB" sz="1050" u="none" cap="none" strike="noStrike">
                  <a:solidFill>
                    <a:srgbClr val="B5CEA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b="0" i="0" lang="en-GB" sz="1050" u="none" cap="none" strike="noStrike">
                  <a:solidFill>
                    <a:srgbClr val="B5CEA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])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6A9955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Version 2</a:t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tril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ones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sum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B5CEA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keepdim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569CD6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xbow2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@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6A9955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(B, T, T) @ (B, T, C) ---&gt; (B, T, C)</a:t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CE917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"Are xbow and xbow2 the same? -&gt; "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allclose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xbow2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27" name="Google Shape;627;p59"/>
            <p:cNvSpPr/>
            <p:nvPr/>
          </p:nvSpPr>
          <p:spPr>
            <a:xfrm>
              <a:off x="518602" y="636301"/>
              <a:ext cx="3300900" cy="38595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8" name="Google Shape;628;p59"/>
          <p:cNvGrpSpPr/>
          <p:nvPr/>
        </p:nvGrpSpPr>
        <p:grpSpPr>
          <a:xfrm>
            <a:off x="4938900" y="642000"/>
            <a:ext cx="3922512" cy="4279200"/>
            <a:chOff x="4607203" y="642000"/>
            <a:chExt cx="3433872" cy="4279200"/>
          </a:xfrm>
        </p:grpSpPr>
        <p:sp>
          <p:nvSpPr>
            <p:cNvPr id="629" name="Google Shape;629;p59"/>
            <p:cNvSpPr txBox="1"/>
            <p:nvPr/>
          </p:nvSpPr>
          <p:spPr>
            <a:xfrm>
              <a:off x="4818175" y="647700"/>
              <a:ext cx="3222900" cy="40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torch.Size([4, 8, 2])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tensor([[ 1.9269,  1.4873],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[ 0.9007, -2.1055],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[ 0.6784, -1.2345],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[-0.0431, -1.6047],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[-0.7521,  1.6487],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[-0.3925, -1.4036],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[-0.7279, -0.5594],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[-0.7688,  0.7624]])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tensor([[ 1.9269,  1.4873],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[ 1.4138, -0.3091],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[ 1.1687, -0.6176],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[ 0.8657, -0.8644],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[ 0.5422, -0.3617],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[ 0.3864, -0.5354],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[ 0.2272, -0.5388],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[ 0.1027, -0.3762]])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Are xbow and xbow2 the same? -&gt;  True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59"/>
            <p:cNvSpPr/>
            <p:nvPr/>
          </p:nvSpPr>
          <p:spPr>
            <a:xfrm>
              <a:off x="4607203" y="642000"/>
              <a:ext cx="3222900" cy="4279200"/>
            </a:xfrm>
            <a:prstGeom prst="rect">
              <a:avLst/>
            </a:prstGeom>
            <a:noFill/>
            <a:ln cap="flat" cmpd="sng" w="38100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1" name="Google Shape;631;p59"/>
          <p:cNvSpPr/>
          <p:nvPr/>
        </p:nvSpPr>
        <p:spPr>
          <a:xfrm>
            <a:off x="4343400" y="2628000"/>
            <a:ext cx="4425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7" name="Google Shape;637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8" name="Google Shape;638;p60"/>
          <p:cNvSpPr txBox="1"/>
          <p:nvPr/>
        </p:nvSpPr>
        <p:spPr>
          <a:xfrm>
            <a:off x="2508200" y="0"/>
            <a:ext cx="4220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example: Self-Attention Snippet Version 3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9" name="Google Shape;639;p60"/>
          <p:cNvGrpSpPr/>
          <p:nvPr/>
        </p:nvGrpSpPr>
        <p:grpSpPr>
          <a:xfrm>
            <a:off x="268574" y="794427"/>
            <a:ext cx="3922420" cy="4021213"/>
            <a:chOff x="518602" y="636301"/>
            <a:chExt cx="3499348" cy="3859500"/>
          </a:xfrm>
        </p:grpSpPr>
        <p:sp>
          <p:nvSpPr>
            <p:cNvPr id="640" name="Google Shape;640;p60"/>
            <p:cNvSpPr txBox="1"/>
            <p:nvPr/>
          </p:nvSpPr>
          <p:spPr>
            <a:xfrm>
              <a:off x="562250" y="847500"/>
              <a:ext cx="3455700" cy="344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6A9955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Version 2</a:t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tril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ones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sum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B5CEA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keepdim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569CD6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xbow2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@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6A9955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(B, T, T) @ (B, T, C) ---&gt; (B, T, C)</a:t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CE917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"Are xbow and xbow2 the same? -&gt; "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endParaRPr b="0" i="0" sz="1050" u="none" cap="none" strike="noStrike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6A9955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# Version 3: using Softmax</a:t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tril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tril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ones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zeros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((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r>
                <a:rPr b="0" i="0" lang="en-GB" sz="1050" u="none" cap="none" strike="noStrike">
                  <a:solidFill>
                    <a:srgbClr val="4FC1FF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masked_fill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tril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B5CEA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float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CE917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'-inf'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F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softmax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dim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=-</a:t>
              </a:r>
              <a:r>
                <a:rPr b="0" i="0" lang="en-GB" sz="1050" u="none" cap="none" strike="noStrike">
                  <a:solidFill>
                    <a:srgbClr val="B5CEA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xbow3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4D4D4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wei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@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endParaRPr b="0" i="0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CE9178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"Are xbow/xbow2 equal to xbow3? -&gt; "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en-GB" sz="1050" u="none" cap="none" strike="noStrike">
                  <a:solidFill>
                    <a:srgbClr val="4EC9B0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torch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b="0" i="0" lang="en-GB" sz="1050" u="none" cap="none" strike="noStrike">
                  <a:solidFill>
                    <a:srgbClr val="DCDCAA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allclose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b="0" i="0" lang="en-GB" sz="1050" u="none" cap="none" strike="noStrike">
                  <a:solidFill>
                    <a:srgbClr val="9CDCFE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xbow3</a:t>
              </a:r>
              <a:r>
                <a:rPr b="0" i="0" lang="en-GB" sz="1050" u="none" cap="none" strike="noStrike">
                  <a:solidFill>
                    <a:srgbClr val="CCCCCC"/>
                  </a:solidFill>
                  <a:highlight>
                    <a:srgbClr val="1F1F1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))</a:t>
              </a:r>
              <a:endParaRPr b="0" i="0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41" name="Google Shape;641;p60"/>
            <p:cNvSpPr/>
            <p:nvPr/>
          </p:nvSpPr>
          <p:spPr>
            <a:xfrm>
              <a:off x="518602" y="636301"/>
              <a:ext cx="3300900" cy="38595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2" name="Google Shape;642;p60"/>
          <p:cNvGrpSpPr/>
          <p:nvPr/>
        </p:nvGrpSpPr>
        <p:grpSpPr>
          <a:xfrm>
            <a:off x="4886800" y="794402"/>
            <a:ext cx="3853875" cy="4069270"/>
            <a:chOff x="4607200" y="641989"/>
            <a:chExt cx="3853875" cy="4105811"/>
          </a:xfrm>
        </p:grpSpPr>
        <p:sp>
          <p:nvSpPr>
            <p:cNvPr id="643" name="Google Shape;643;p60"/>
            <p:cNvSpPr txBox="1"/>
            <p:nvPr/>
          </p:nvSpPr>
          <p:spPr>
            <a:xfrm>
              <a:off x="4818175" y="647700"/>
              <a:ext cx="3642900" cy="41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torch.Size([4, 8, 2])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tensor([[ 1.9269,  1.4873],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[ 0.9007, -2.1055],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[ 0.6784, -1.2345],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[-0.0431, -1.6047],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[-0.7521,  1.6487],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[-0.3925, -1.4036],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[-0.7279, -0.5594],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[-0.7688,  0.7624]])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tensor([[ 1.9269,  1.4873],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[ 1.4138, -0.3091],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[ 1.1687, -0.6176],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[ 0.8657, -0.8644],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[ 0.5422, -0.3617],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[ 0.3864, -0.5354],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[ 0.2272, -0.5388],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	[ 0.1027, -0.3762]])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Are xbow/xbow2 equal to xbow3? -&gt;  True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60"/>
            <p:cNvSpPr/>
            <p:nvPr/>
          </p:nvSpPr>
          <p:spPr>
            <a:xfrm>
              <a:off x="4607200" y="641989"/>
              <a:ext cx="3731100" cy="4063500"/>
            </a:xfrm>
            <a:prstGeom prst="rect">
              <a:avLst/>
            </a:prstGeom>
            <a:noFill/>
            <a:ln cap="flat" cmpd="sng" w="38100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5" name="Google Shape;645;p60"/>
          <p:cNvSpPr/>
          <p:nvPr/>
        </p:nvSpPr>
        <p:spPr>
          <a:xfrm>
            <a:off x="4191000" y="2780400"/>
            <a:ext cx="442500" cy="31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1"/>
          <p:cNvSpPr txBox="1"/>
          <p:nvPr/>
        </p:nvSpPr>
        <p:spPr>
          <a:xfrm>
            <a:off x="4010850" y="0"/>
            <a:ext cx="1122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61"/>
          <p:cNvSpPr txBox="1"/>
          <p:nvPr/>
        </p:nvSpPr>
        <p:spPr>
          <a:xfrm>
            <a:off x="-30600" y="750125"/>
            <a:ext cx="92052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Generative AI is 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 of encoding complex real world distributions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such that we can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creative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later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via sampling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lang="en-GB"/>
              <a:t>learned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Transformers are powerful neural networks that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borrow the best ideas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from prior models in the AI ecosystem and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 them together for a synergistic effect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Self-attention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Feed-Forward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MLP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the major conceptual components of a </a:t>
            </a:r>
            <a:r>
              <a:rPr b="1" i="0" lang="en-GB" sz="1400" u="none" cap="none" strike="noStrike">
                <a:solidFill>
                  <a:srgbClr val="000000"/>
                </a:solidFill>
              </a:rPr>
              <a:t>Transformer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Self-attention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essentially a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graph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where tokens exchange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information stored in channels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among themselves.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Feed-Forward MLP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/>
              <a:t>is the memory database of the transformer, used to enrich the input embeddings with new facts.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Residual additive connections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pre- / post-normalization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important details / attributes, t</a:t>
            </a:r>
            <a:r>
              <a:rPr lang="en-GB"/>
              <a:t>hat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/>
              <a:t>contribute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towards a more successful training and faster convergence.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8" name="Google Shape;658;p62"/>
          <p:cNvSpPr/>
          <p:nvPr/>
        </p:nvSpPr>
        <p:spPr>
          <a:xfrm>
            <a:off x="476250" y="2355851"/>
            <a:ext cx="8199699" cy="43201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1"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Arial"/>
              </a:rPr>
              <a:t>Bonus slides and helper material next...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3"/>
          <p:cNvSpPr txBox="1"/>
          <p:nvPr/>
        </p:nvSpPr>
        <p:spPr>
          <a:xfrm>
            <a:off x="2409325" y="-12700"/>
            <a:ext cx="4923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Sequential nature of Recurrent Neural Networks (RNNs)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4" name="Google Shape;66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1000" y="622325"/>
            <a:ext cx="5449050" cy="25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63"/>
          <p:cNvSpPr txBox="1"/>
          <p:nvPr/>
        </p:nvSpPr>
        <p:spPr>
          <a:xfrm>
            <a:off x="170550" y="3381250"/>
            <a:ext cx="8802900" cy="15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➢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unfolding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feedback loop in time, we </a:t>
            </a:r>
            <a:r>
              <a:rPr lang="en-GB" sz="1000"/>
              <a:t>see the actual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complexity of these networks. It is as if we train a </a:t>
            </a: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very deep network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that</a:t>
            </a:r>
            <a:r>
              <a:rPr lang="en-GB" sz="1000"/>
              <a:t> may be very well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why they</a:t>
            </a:r>
            <a:r>
              <a:rPr lang="en-GB" sz="1000"/>
              <a:t>’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 </a:t>
            </a:r>
            <a:r>
              <a:rPr lang="en-GB" sz="1000"/>
              <a:t>significantly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harder to train.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➢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RNNs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things </a:t>
            </a:r>
            <a:r>
              <a:rPr lang="en-GB" sz="1000"/>
              <a:t>happen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sequentially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=&gt; </a:t>
            </a: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graph structure.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➢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Transformers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things happen</a:t>
            </a: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parallel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=&gt; </a:t>
            </a: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graph structure.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➢"/>
            </a:pP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Transformers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might simply be </a:t>
            </a:r>
            <a:r>
              <a:rPr b="1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easier to train stably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maybe that</a:t>
            </a:r>
            <a:r>
              <a:rPr lang="en-GB" sz="1000"/>
              <a:t>’</a:t>
            </a: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why they have better overall results.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4"/>
          <p:cNvSpPr txBox="1"/>
          <p:nvPr/>
        </p:nvSpPr>
        <p:spPr>
          <a:xfrm>
            <a:off x="3130375" y="0"/>
            <a:ext cx="3097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 short-term memory (LSTMs)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2" name="Google Shape;67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950" y="688550"/>
            <a:ext cx="5376586" cy="4216376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4"/>
          <p:cNvSpPr txBox="1"/>
          <p:nvPr/>
        </p:nvSpPr>
        <p:spPr>
          <a:xfrm>
            <a:off x="5294275" y="1848775"/>
            <a:ext cx="37269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Contains special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gates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address the problem of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vanishing gradients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Addresses the problem of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exploding gradients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5"/>
          <p:cNvSpPr txBox="1"/>
          <p:nvPr/>
        </p:nvSpPr>
        <p:spPr>
          <a:xfrm>
            <a:off x="3585825" y="0"/>
            <a:ext cx="2752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Gated Recurrent Units (GRUs)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0" name="Google Shape;68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825" y="722100"/>
            <a:ext cx="4867275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65"/>
          <p:cNvSpPr txBox="1"/>
          <p:nvPr/>
        </p:nvSpPr>
        <p:spPr>
          <a:xfrm>
            <a:off x="5175325" y="2121875"/>
            <a:ext cx="3930600" cy="15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Generally considered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than LSTMs.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practice =&gt;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outcomes to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LSTM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models provide.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8" name="Google Shape;688;p66"/>
          <p:cNvSpPr txBox="1"/>
          <p:nvPr/>
        </p:nvSpPr>
        <p:spPr>
          <a:xfrm>
            <a:off x="3075975" y="0"/>
            <a:ext cx="3652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Generative Adversarial Networks / GANs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66"/>
          <p:cNvSpPr txBox="1"/>
          <p:nvPr/>
        </p:nvSpPr>
        <p:spPr>
          <a:xfrm>
            <a:off x="498300" y="3362175"/>
            <a:ext cx="8380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networks: Generator and Discriminator play a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min-max game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Generator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aims at producing realistic outputs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trick the Discriminator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Discriminator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strives to improve its ability to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discern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fake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0" name="Google Shape;69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950" y="1014150"/>
            <a:ext cx="8839199" cy="2033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6" name="Google Shape;696;p67"/>
          <p:cNvSpPr txBox="1"/>
          <p:nvPr/>
        </p:nvSpPr>
        <p:spPr>
          <a:xfrm>
            <a:off x="3092800" y="0"/>
            <a:ext cx="29277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Variational Autoencoders / VAEs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67"/>
          <p:cNvSpPr txBox="1"/>
          <p:nvPr/>
        </p:nvSpPr>
        <p:spPr>
          <a:xfrm>
            <a:off x="179125" y="2951250"/>
            <a:ext cx="86646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Inspired from traditional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autoencoders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compress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into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codes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Variational autoencoders will learn a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latent distribution function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instead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latent distribution can be sampled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resulting in variable latent samples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samples are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decoded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resulting in a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variety of realistic reconstructions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8" name="Google Shape;698;p67"/>
          <p:cNvGrpSpPr/>
          <p:nvPr/>
        </p:nvGrpSpPr>
        <p:grpSpPr>
          <a:xfrm>
            <a:off x="134325" y="904538"/>
            <a:ext cx="8839201" cy="1764500"/>
            <a:chOff x="134325" y="904538"/>
            <a:chExt cx="8839201" cy="1764500"/>
          </a:xfrm>
        </p:grpSpPr>
        <p:pic>
          <p:nvPicPr>
            <p:cNvPr id="699" name="Google Shape;699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4325" y="904538"/>
              <a:ext cx="8839201" cy="176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0" name="Google Shape;700;p67"/>
            <p:cNvSpPr txBox="1"/>
            <p:nvPr/>
          </p:nvSpPr>
          <p:spPr>
            <a:xfrm>
              <a:off x="2857150" y="2260050"/>
              <a:ext cx="4123500" cy="31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Note -&gt; Re-parametrization trick</a:t>
              </a:r>
              <a:r>
                <a:rPr b="1" i="0" lang="en-GB" sz="18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3604675" y="0"/>
            <a:ext cx="1891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Flow-based models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278300" y="3408925"/>
            <a:ext cx="86718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invertible neural networks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learn the data distribution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exact log-likelihood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directly thanks to </a:t>
            </a:r>
            <a:r>
              <a:rPr b="1" i="0" lang="en-GB" sz="1800" u="none" cap="none" strike="noStrike">
                <a:solidFill>
                  <a:srgbClr val="000000"/>
                </a:solidFill>
              </a:rPr>
              <a:t>one-to-one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invertibility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computationally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expensive than VAE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s, due to invertibility requirements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8" name="Google Shape;70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704" y="1028000"/>
            <a:ext cx="8429846" cy="20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14" name="Google Shape;714;p69"/>
          <p:cNvSpPr txBox="1"/>
          <p:nvPr/>
        </p:nvSpPr>
        <p:spPr>
          <a:xfrm>
            <a:off x="3855075" y="0"/>
            <a:ext cx="16410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Diffusion models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/>
          <p:nvPr/>
        </p:nvSpPr>
        <p:spPr>
          <a:xfrm>
            <a:off x="123200" y="3755875"/>
            <a:ext cx="88269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Markov chain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states, where each state is a noisy version of the other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original input X</a:t>
            </a:r>
            <a:r>
              <a:rPr b="0" baseline="-2500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diffused into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pure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noise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over several steps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➢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learns the </a:t>
            </a:r>
            <a:r>
              <a:rPr b="1" i="0" lang="en-GB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noise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needs to be removed from a state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time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to get to an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earlier state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69"/>
          <p:cNvSpPr/>
          <p:nvPr/>
        </p:nvSpPr>
        <p:spPr>
          <a:xfrm>
            <a:off x="1248925" y="899075"/>
            <a:ext cx="6872100" cy="422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69"/>
          <p:cNvSpPr/>
          <p:nvPr/>
        </p:nvSpPr>
        <p:spPr>
          <a:xfrm rot="10800000">
            <a:off x="1248925" y="3169800"/>
            <a:ext cx="6872100" cy="4227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69"/>
          <p:cNvSpPr txBox="1"/>
          <p:nvPr/>
        </p:nvSpPr>
        <p:spPr>
          <a:xfrm>
            <a:off x="3572700" y="837050"/>
            <a:ext cx="32682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 / forward distribution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69"/>
          <p:cNvSpPr txBox="1"/>
          <p:nvPr/>
        </p:nvSpPr>
        <p:spPr>
          <a:xfrm>
            <a:off x="3516025" y="3169800"/>
            <a:ext cx="32682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 / backward distribution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0" name="Google Shape;72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650" y="1345375"/>
            <a:ext cx="7778999" cy="176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70"/>
          <p:cNvSpPr txBox="1"/>
          <p:nvPr/>
        </p:nvSpPr>
        <p:spPr>
          <a:xfrm>
            <a:off x="3921875" y="0"/>
            <a:ext cx="1144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7" name="Google Shape;727;p70"/>
          <p:cNvSpPr txBox="1"/>
          <p:nvPr/>
        </p:nvSpPr>
        <p:spPr>
          <a:xfrm>
            <a:off x="141725" y="254641"/>
            <a:ext cx="8562000" cy="47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https://medium.com/data-science/the-differences-between-artificial-and-biological-neural-networks-a8b46db828b7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https://cs231n.stanford.edu/slides/2019/cs231n_2019_lecture04.pdf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https://towardsdatascience.com/neural-networks-backpropagation-by-dr-lihi-gur-arie-27be67d8fdce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https://lilianweng.github.io/posts/2018-10-13-flow-models/</a:t>
            </a:r>
            <a:r>
              <a:rPr lang="en-GB" sz="900">
                <a:solidFill>
                  <a:schemeClr val="dk1"/>
                </a:solidFill>
              </a:rPr>
              <a:t> 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https://lilianweng.github.io/posts/2021-07-11-diffusion-models/</a:t>
            </a:r>
            <a:r>
              <a:rPr lang="en-GB" sz="900">
                <a:solidFill>
                  <a:schemeClr val="dk1"/>
                </a:solidFill>
              </a:rPr>
              <a:t> 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https://ducspe.github.io/masterthesis_danucaus/</a:t>
            </a:r>
            <a:r>
              <a:rPr lang="en-GB" sz="900">
                <a:solidFill>
                  <a:schemeClr val="dk1"/>
                </a:solidFill>
              </a:rPr>
              <a:t>  -&gt; page 18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“Attention is all you need” by Vaswani et al. -&gt; </a:t>
            </a: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https://arxiv.org/pdf/1706.03762.pdf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LLM visualization tool -&gt; </a:t>
            </a: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https://bbycroft.net/llm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3Blue1Brown channel / playlist -&gt; </a:t>
            </a: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https://www.youtube.com/playlist?list=PLZHQObOWTQDNU6R1_67000Dx_ZCJB-3pi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“Swin Transformer V2: Scaling Up Capacity and Resolution” paper by Liu et al.  -&gt; </a:t>
            </a: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https://arxiv.org/abs/2111.09883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https://www.nature.com/news/2005/050620/full/news050620-7.html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Grandmother cells paper -&gt; </a:t>
            </a: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https://www.nature.com/articles/nature03687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https://www.researchgate.net/publication/7770938_Invariant_Visual_Representation_by_Single_Neurons_in_the_Human_Brain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https://arstechnica.com/science/2018/12/move-over-alphago-alphazero-taught-itself-to-play-three-different-games/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https://www.fz-juelich.de/en/news/archive/press-release/2022/first-european-exascale-supercomputer-coming-to-julich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https://odsc.com/blog/reinforcement-learning-with-ppo/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“An image is worth 16x16 words: Transformers for image recognition at scale” by A. Dosovitskiy et al. -&gt; </a:t>
            </a: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https://arxiv.org/pdf/2010.11929v2.pdf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https://medium.com/@RaghavPrabhu/understanding-of-convolutional-neural-network-cnn-deep-learning-99760835f148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https://cs231n.github.io/convolutional-networks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“Swin Transformer: Hierarchical Vision Transformer using Shifted Windows” by Liu et al. -&gt; </a:t>
            </a: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https://arxiv.org/pdf/2103.14030.pdf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https://en.wikipedia.org/wiki/Short-time_Fourier_transform#/media/File:Spectrogram-19thC.png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“Transformers in Time Series: A Survey” paper, by Wen et al. -&gt; </a:t>
            </a: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https://arxiv.org/pdf/2202.07125.pdf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https://github.com/qingsongedu/time-series-transformers-review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AlphaFold2 paper -&gt; </a:t>
            </a: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https://www.nature.com/articles/s41586-021-03819-2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https://medium.com/data-science/recurrent-neural-networks-rnns-3f06d7653a85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  <a:uFill>
                  <a:noFill/>
                </a:uFill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https://medium.com/data-science/illustrated-guide-to-lstms-and-gru-s-a-step-by-step-explanation-44e9eb85bf21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C_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